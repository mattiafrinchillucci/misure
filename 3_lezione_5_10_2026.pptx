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309" r:id="rId3"/>
    <p:sldId id="257" r:id="rId4"/>
    <p:sldId id="273" r:id="rId5"/>
    <p:sldId id="277" r:id="rId6"/>
    <p:sldId id="278" r:id="rId7"/>
    <p:sldId id="280" r:id="rId8"/>
    <p:sldId id="281" r:id="rId9"/>
    <p:sldId id="282" r:id="rId10"/>
    <p:sldId id="289" r:id="rId11"/>
    <p:sldId id="290" r:id="rId12"/>
    <p:sldId id="296" r:id="rId13"/>
    <p:sldId id="299" r:id="rId14"/>
    <p:sldId id="297" r:id="rId15"/>
    <p:sldId id="306" r:id="rId16"/>
    <p:sldId id="307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25" r:id="rId40"/>
    <p:sldId id="275" r:id="rId41"/>
    <p:sldId id="270" r:id="rId4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04124B"/>
    <a:srgbClr val="D340C1"/>
    <a:srgbClr val="4F23A4"/>
    <a:srgbClr val="F5337E"/>
    <a:srgbClr val="F54E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/>
    <p:restoredTop sz="84222"/>
  </p:normalViewPr>
  <p:slideViewPr>
    <p:cSldViewPr snapToGrid="0">
      <p:cViewPr varScale="1">
        <p:scale>
          <a:sx n="97" d="100"/>
          <a:sy n="97" d="100"/>
        </p:scale>
        <p:origin x="1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38EA9-2046-9E41-A0BD-6D76415CB2F5}" type="datetimeFigureOut">
              <a:rPr lang="it-IT" smtClean="0"/>
              <a:t>25/09/26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5B396-B69D-0B40-A6C0-82D90A037B2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5408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6355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651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4879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2632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2328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453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3965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0787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7626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3244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9879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487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4533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517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7584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8859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8337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3328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23263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89143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90471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35655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42736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31927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25247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09908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59232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0597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88189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58967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05295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6324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9809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41336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9020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87251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75442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71879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78755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83261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5B396-B69D-0B40-A6C0-82D90A037B23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0470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5AC1F3-A73C-2AE7-16B6-527E7608A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9BE5717-6AFD-94CC-60E1-26E95748D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67D191-68CB-D5C1-05F9-A63A1BCC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C8E3-4DA4-0740-B596-857F869DD901}" type="datetime1">
              <a:rPr lang="it-IT" smtClean="0"/>
              <a:t>25/09/26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76ACA4-B7F0-C07C-BA97-EAD6C8F2B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2B3C23-8484-9355-E0CC-E0CFAC1A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494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673F02-0B7A-90FA-23F9-4C542107B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0AB71F-4692-842F-8B8B-9CB728066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E282FAB-BF45-6E6E-DB33-ED247888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59A7B-EFFE-DF49-A6C7-7D084F56D4B7}" type="datetime1">
              <a:rPr lang="it-IT" smtClean="0"/>
              <a:t>25/09/26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7C492B-202A-6EC1-110D-4E3074291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732476-65DC-DA76-5C6C-2CE4184C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917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94882-2106-212B-8191-974D455E1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FB0A679-AFC0-EBEF-8853-1FE5E0730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244D5F-0B63-75D1-0B65-BE3FD6ED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F7F35-26AD-2543-AC6B-4F942D03236F}" type="datetime1">
              <a:rPr lang="it-IT" smtClean="0"/>
              <a:t>25/09/26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5163BD-A2E2-0B53-4F30-C4BC509C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655AAE-A592-071A-29F8-B505C6E6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3749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CAC93F-DF10-E742-B7BD-0D0B13BDE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7FC0D4-CAC3-227B-7575-BADC24B49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FE41C57-B72A-D252-C504-0A3CAE16E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0F1A90B-0691-3F18-344C-2AFA6DF9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A1EA-2B43-B443-A26B-29894EE8BC4B}" type="datetime1">
              <a:rPr lang="it-IT" smtClean="0"/>
              <a:t>25/09/26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24DB3FD-2A1D-9CBC-B1F1-536AC3A1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D636A81-5E52-92E5-1A92-15DB5EB4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74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1BA31F-0A69-1BEB-54F3-53F6AD41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1C7320A-5F4D-C18A-F4C0-532FBED16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91307E9-FA26-0E36-DD44-786ECE7BA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FB1623B-A531-121E-943C-34BA038D5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A862A3E-D081-398A-0332-68BDE3F5F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92E4E58-FE08-D81D-A40F-19F0B3F2B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ECF1-7751-BB44-BFD4-5901B310215D}" type="datetime1">
              <a:rPr lang="it-IT" smtClean="0"/>
              <a:t>25/09/26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7F4E73E-A94B-92AA-83CB-05D526C9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7C1CE7D-B63F-C733-EE1E-77CA051B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7161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329314-6680-AA73-7ECA-621A697B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51ECCF8-8855-BD85-33B2-2B598076C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21F8-B2D8-A747-B723-A9640E41FB0D}" type="datetime1">
              <a:rPr lang="it-IT" smtClean="0"/>
              <a:t>25/09/26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23F8DC1-F639-754E-66EB-48E877E4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78E1880-6E30-4CB8-2803-F16C98FC1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2596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24239CA-F6E0-63C9-C5A7-4EA5F436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8F7F0-C06A-AA41-9839-7C837495BEB4}" type="datetime1">
              <a:rPr lang="it-IT" smtClean="0"/>
              <a:t>25/09/26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0F10A68-7A0D-FF24-F59D-8DD93B93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704586-F676-C04C-15F6-BFD54096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7458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39DBBB-F5CD-662C-B740-81A8D3835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A4223E-0718-C7F9-211A-CF186A888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B2E1F6-874A-54D5-03B9-63761088A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1E8C604-A5FF-D341-6DE4-1697F156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3706D-92D2-BB4D-AF2F-57DF1E7AFF82}" type="datetime1">
              <a:rPr lang="it-IT" smtClean="0"/>
              <a:t>25/09/26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FA6CDF6-2217-C430-26CD-36C5C42F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F52C370-CA01-8817-4C1C-8B8F6B55B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975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CBFF1D-66A3-4816-A892-55FF10739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CBC76A4-8C8F-E352-7EB7-C4E75C31F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30E2587-EFD8-CC6A-D3B7-C75218F5D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D24F81-9508-6AD6-3679-1A7EEBA7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EAC3-FC9E-2146-9E9F-6E9236A43EC3}" type="datetime1">
              <a:rPr lang="it-IT" smtClean="0"/>
              <a:t>25/09/26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9462EC-023D-73B4-24EB-151DAB2F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5DEE5D4-4F77-25BF-D373-0E3745CA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890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F85AE2-1725-1E5F-E9F4-EC2DD2275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C2253CF-774C-7E3D-8C90-38DFD35B1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FE312E-2485-B849-563E-C33F55BF8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428-1BB3-4442-B2C5-BECDAF3BA728}" type="datetime1">
              <a:rPr lang="it-IT" smtClean="0"/>
              <a:t>25/09/26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CE47101-70EB-109C-EA92-C498C59B5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2541A9-3280-3641-EEE6-80C07BD0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574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15FA367-ABEC-4BEC-FB52-A3ACD3CF0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9EDD268-D8CD-77E0-8477-C4FEA703F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805E3F-115D-6C77-045C-E64EC6C7C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3645-0417-BD40-A029-96ECC02157AE}" type="datetime1">
              <a:rPr lang="it-IT" smtClean="0"/>
              <a:t>25/09/26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235507-AD8A-EDA3-9E8D-EADA4FC7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A8DFA4-ADD5-EF55-C780-5815BDD05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0019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5096457-A984-9BC7-7049-A553106AA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CFA9F8-52E7-0FEF-0EB4-361255975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502A153-D38C-7452-7CDC-1715A5F05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E66A3-0B43-2148-B3E1-FD3103D26797}" type="datetime1">
              <a:rPr lang="it-IT" smtClean="0"/>
              <a:t>25/09/26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E7B3E1-6B6E-D7BD-A508-C529777A3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396774-B582-E756-9257-3753DEE59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9D071-E114-8942-BA66-2E81E6A1C8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31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3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tiff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t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B5B0AF1-880E-3FB6-6881-FACBED6E4BE4}"/>
              </a:ext>
            </a:extLst>
          </p:cNvPr>
          <p:cNvSpPr txBox="1">
            <a:spLocks/>
          </p:cNvSpPr>
          <p:nvPr/>
        </p:nvSpPr>
        <p:spPr>
          <a:xfrm>
            <a:off x="421201" y="768991"/>
            <a:ext cx="11164185" cy="268404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i="0" kern="1200">
                <a:solidFill>
                  <a:schemeClr val="tx1"/>
                </a:solidFill>
                <a:latin typeface="Derailed" panose="020B0503030101060003" pitchFamily="34" charset="77"/>
                <a:ea typeface="+mj-ea"/>
                <a:cs typeface="+mj-cs"/>
              </a:defRPr>
            </a:lvl1pPr>
          </a:lstStyle>
          <a:p>
            <a:r>
              <a:rPr lang="en-GB" sz="3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Corso di </a:t>
            </a:r>
            <a:r>
              <a:rPr lang="en-GB" sz="32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GB" sz="3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485900" lvl="2" indent="-571500">
              <a:buFont typeface="Wingdings" pitchFamily="2" charset="2"/>
              <a:buChar char="ü"/>
            </a:pPr>
            <a:r>
              <a:rPr lang="en-GB" sz="2600" i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Ingegneria</a:t>
            </a:r>
            <a:r>
              <a:rPr lang="en-GB" sz="26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i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Industriale</a:t>
            </a:r>
            <a:r>
              <a:rPr lang="en-GB" sz="26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(III Anno, I </a:t>
            </a:r>
            <a:r>
              <a:rPr lang="en-GB" sz="2600" i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semestre</a:t>
            </a:r>
            <a:r>
              <a:rPr lang="en-GB" sz="26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2600" b="0" i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Insegnamento</a:t>
            </a:r>
            <a:endParaRPr lang="en-GB" sz="36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85900" lvl="2" indent="-571500">
              <a:buFont typeface="Wingdings" pitchFamily="2" charset="2"/>
              <a:buChar char="ü"/>
            </a:pPr>
            <a:r>
              <a:rPr lang="en-GB" sz="2600" b="0" i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Misure</a:t>
            </a:r>
            <a:endParaRPr lang="en-GB" sz="2600" b="0" i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Anno </a:t>
            </a:r>
            <a:r>
              <a:rPr lang="en-GB" sz="32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Accademico</a:t>
            </a:r>
            <a:endParaRPr lang="en-GB" sz="36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85900" lvl="2" indent="-571500">
              <a:buFont typeface="Wingdings" pitchFamily="2" charset="2"/>
              <a:buChar char="ü"/>
            </a:pPr>
            <a:r>
              <a:rPr lang="en-GB" sz="2600" b="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2026/2027</a:t>
            </a:r>
            <a:endParaRPr lang="en-GB" sz="26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C8C396A-8B8F-B148-534A-CA5C27A1F743}"/>
              </a:ext>
            </a:extLst>
          </p:cNvPr>
          <p:cNvSpPr txBox="1">
            <a:spLocks/>
          </p:cNvSpPr>
          <p:nvPr/>
        </p:nvSpPr>
        <p:spPr>
          <a:xfrm>
            <a:off x="622500" y="3713280"/>
            <a:ext cx="8325080" cy="658480"/>
          </a:xfrm>
          <a:prstGeom prst="rect">
            <a:avLst/>
          </a:prstGeom>
        </p:spPr>
        <p:txBody>
          <a:bodyPr vert="horz" wrap="square" lIns="0" tIns="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tx1"/>
                </a:solidFill>
                <a:latin typeface="Derailed" panose="020B0503030101060003" pitchFamily="34" charset="77"/>
                <a:ea typeface="+mn-ea"/>
                <a:cs typeface="+mn-cs"/>
              </a:defRPr>
            </a:lvl1pPr>
            <a:lvl2pPr marL="3175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Derailed" panose="020B0503030101060003" pitchFamily="34" charset="77"/>
                <a:ea typeface="+mn-ea"/>
                <a:cs typeface="+mn-cs"/>
              </a:defRPr>
            </a:lvl2pPr>
            <a:lvl3pPr marL="133350" indent="-1333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Derailed" panose="020B0503030101060003" pitchFamily="34" charset="77"/>
                <a:ea typeface="+mn-ea"/>
                <a:cs typeface="+mn-cs"/>
              </a:defRPr>
            </a:lvl3pPr>
            <a:lvl4pPr marL="268288" indent="-13811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Raleway" panose="020B0503030101060003" pitchFamily="34" charset="0"/>
              <a:buChar char="−"/>
              <a:tabLst/>
              <a:defRPr sz="1050" b="0" i="0" kern="1200">
                <a:solidFill>
                  <a:schemeClr val="tx1"/>
                </a:solidFill>
                <a:latin typeface="Derailed" panose="020B0503030101060003" pitchFamily="34" charset="77"/>
                <a:ea typeface="+mn-ea"/>
                <a:cs typeface="+mn-cs"/>
              </a:defRPr>
            </a:lvl4pPr>
            <a:lvl5pPr marL="446088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Raleway" panose="020B0503030101060003" pitchFamily="34" charset="0"/>
              <a:buChar char="−"/>
              <a:tabLst/>
              <a:defRPr sz="900" b="0" i="0" kern="1200">
                <a:solidFill>
                  <a:schemeClr val="tx1"/>
                </a:solidFill>
                <a:latin typeface="Derailed" panose="020B05030301010600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i="1" dirty="0" err="1">
                <a:solidFill>
                  <a:srgbClr val="C60B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800" i="1" dirty="0">
                <a:solidFill>
                  <a:srgbClr val="C60B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6757947D-04F0-5585-CF74-67B2C1BB075A}"/>
              </a:ext>
            </a:extLst>
          </p:cNvPr>
          <p:cNvSpPr txBox="1">
            <a:spLocks/>
          </p:cNvSpPr>
          <p:nvPr/>
        </p:nvSpPr>
        <p:spPr>
          <a:xfrm>
            <a:off x="418070" y="4239329"/>
            <a:ext cx="12192000" cy="1680322"/>
          </a:xfrm>
          <a:prstGeom prst="rect">
            <a:avLst/>
          </a:prstGeom>
        </p:spPr>
        <p:txBody>
          <a:bodyPr vert="horz" wrap="square" lIns="0" tIns="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tx1"/>
                </a:solidFill>
                <a:latin typeface="Derailed" panose="020B0503030101060003" pitchFamily="34" charset="77"/>
                <a:ea typeface="+mn-ea"/>
                <a:cs typeface="+mn-cs"/>
              </a:defRPr>
            </a:lvl1pPr>
            <a:lvl2pPr marL="3175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Derailed" panose="020B0503030101060003" pitchFamily="34" charset="77"/>
                <a:ea typeface="+mn-ea"/>
                <a:cs typeface="+mn-cs"/>
              </a:defRPr>
            </a:lvl2pPr>
            <a:lvl3pPr marL="133350" indent="-1333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Derailed" panose="020B0503030101060003" pitchFamily="34" charset="77"/>
                <a:ea typeface="+mn-ea"/>
                <a:cs typeface="+mn-cs"/>
              </a:defRPr>
            </a:lvl3pPr>
            <a:lvl4pPr marL="268288" indent="-13811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Raleway" panose="020B0503030101060003" pitchFamily="34" charset="0"/>
              <a:buChar char="−"/>
              <a:tabLst/>
              <a:defRPr sz="1050" b="0" i="0" kern="1200">
                <a:solidFill>
                  <a:schemeClr val="tx1"/>
                </a:solidFill>
                <a:latin typeface="Derailed" panose="020B0503030101060003" pitchFamily="34" charset="77"/>
                <a:ea typeface="+mn-ea"/>
                <a:cs typeface="+mn-cs"/>
              </a:defRPr>
            </a:lvl4pPr>
            <a:lvl5pPr marL="446088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Raleway" panose="020B0503030101060003" pitchFamily="34" charset="0"/>
              <a:buChar char="−"/>
              <a:tabLst/>
              <a:defRPr sz="900" b="0" i="0" kern="1200">
                <a:solidFill>
                  <a:schemeClr val="tx1"/>
                </a:solidFill>
                <a:latin typeface="Derailed" panose="020B05030301010600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Emiliano Schena</a:t>
            </a:r>
          </a:p>
          <a:p>
            <a:pPr algn="ctr"/>
            <a:r>
              <a:rPr lang="it-IT" sz="24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Professore Ordinario</a:t>
            </a:r>
          </a:p>
          <a:p>
            <a:pPr algn="ctr"/>
            <a:r>
              <a:rPr lang="it-IT" sz="24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Facoltà Dipartimentale di Ingegneria, Università Campus </a:t>
            </a:r>
            <a:r>
              <a:rPr lang="it-IT" sz="24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Bio</a:t>
            </a:r>
            <a:r>
              <a:rPr lang="it-IT" sz="24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-Medico di Roma</a:t>
            </a:r>
          </a:p>
          <a:p>
            <a:pPr algn="ctr"/>
            <a:endParaRPr lang="it-IT" sz="1600" b="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it-IT" sz="1800" b="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24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Roma – 5 </a:t>
            </a:r>
            <a:r>
              <a:rPr lang="en-GB" sz="24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ottobre</a:t>
            </a:r>
            <a:r>
              <a:rPr lang="en-GB" sz="24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2026</a:t>
            </a:r>
            <a:endParaRPr lang="it-IT" sz="2400" b="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algn="ctr"/>
            <a:endParaRPr lang="it-IT" sz="28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FEEC2876-FCEA-F7C8-5010-6269255782C6}"/>
              </a:ext>
            </a:extLst>
          </p:cNvPr>
          <p:cNvSpPr txBox="1">
            <a:spLocks/>
          </p:cNvSpPr>
          <p:nvPr/>
        </p:nvSpPr>
        <p:spPr>
          <a:xfrm>
            <a:off x="418070" y="136525"/>
            <a:ext cx="10935730" cy="5665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3.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esercizi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767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15756B3C-547E-1FDF-1E82-EB911F78FE2A}"/>
              </a:ext>
            </a:extLst>
          </p:cNvPr>
          <p:cNvSpPr txBox="1">
            <a:spLocks/>
          </p:cNvSpPr>
          <p:nvPr/>
        </p:nvSpPr>
        <p:spPr>
          <a:xfrm>
            <a:off x="506413" y="258202"/>
            <a:ext cx="8323139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Sommario</a:t>
            </a:r>
            <a:endParaRPr lang="en-GB" b="1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4">
            <a:extLst>
              <a:ext uri="{FF2B5EF4-FFF2-40B4-BE49-F238E27FC236}">
                <a16:creationId xmlns:a16="http://schemas.microsoft.com/office/drawing/2014/main" id="{65941367-1CAB-89D4-0AF7-B6E8D4B63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2" y="856430"/>
            <a:ext cx="11170787" cy="3108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84250" indent="-9842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endParaRPr lang="en-GB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110000"/>
              </a:lnSpc>
              <a:buSzPct val="100000"/>
              <a:tabLst>
                <a:tab pos="533400" algn="l"/>
              </a:tabLst>
            </a:pPr>
            <a:endParaRPr lang="en-GB" sz="36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US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Materiale</a:t>
            </a:r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didattico</a:t>
            </a:r>
            <a:endParaRPr lang="en-US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F1380B-44C5-866B-92CF-244EDCC3B136}"/>
              </a:ext>
            </a:extLst>
          </p:cNvPr>
          <p:cNvSpPr txBox="1"/>
          <p:nvPr/>
        </p:nvSpPr>
        <p:spPr>
          <a:xfrm>
            <a:off x="5115426" y="4288435"/>
            <a:ext cx="69903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of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downloaded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the web. In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lecturer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apologises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case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some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of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intentional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lecturer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revising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appropriate.</a:t>
            </a:r>
          </a:p>
        </p:txBody>
      </p:sp>
    </p:spTree>
    <p:extLst>
      <p:ext uri="{BB962C8B-B14F-4D97-AF65-F5344CB8AC3E}">
        <p14:creationId xmlns:p14="http://schemas.microsoft.com/office/powerpoint/2010/main" val="356994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15756B3C-547E-1FDF-1E82-EB911F78FE2A}"/>
              </a:ext>
            </a:extLst>
          </p:cNvPr>
          <p:cNvSpPr txBox="1">
            <a:spLocks/>
          </p:cNvSpPr>
          <p:nvPr/>
        </p:nvSpPr>
        <p:spPr>
          <a:xfrm>
            <a:off x="506413" y="258202"/>
            <a:ext cx="8323139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Sommario</a:t>
            </a:r>
            <a:endParaRPr lang="en-GB" b="1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4">
            <a:extLst>
              <a:ext uri="{FF2B5EF4-FFF2-40B4-BE49-F238E27FC236}">
                <a16:creationId xmlns:a16="http://schemas.microsoft.com/office/drawing/2014/main" id="{65941367-1CAB-89D4-0AF7-B6E8D4B63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2" y="856430"/>
            <a:ext cx="11170787" cy="3108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84250" indent="-9842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endParaRPr lang="en-GB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3600" b="1" dirty="0">
              <a:solidFill>
                <a:schemeClr val="tx2">
                  <a:lumMod val="25000"/>
                  <a:lumOff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110000"/>
              </a:lnSpc>
              <a:buSzPct val="100000"/>
              <a:tabLst>
                <a:tab pos="533400" algn="l"/>
              </a:tabLst>
            </a:pPr>
            <a:endParaRPr lang="en-GB" sz="3600" b="1" dirty="0">
              <a:solidFill>
                <a:schemeClr val="tx2">
                  <a:lumMod val="25000"/>
                  <a:lumOff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US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Materiale</a:t>
            </a:r>
            <a:r>
              <a:rPr lang="en-US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didattico</a:t>
            </a:r>
            <a:endParaRPr lang="en-US" sz="3600" b="1" dirty="0">
              <a:solidFill>
                <a:schemeClr val="tx2">
                  <a:lumMod val="25000"/>
                  <a:lumOff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F1380B-44C5-866B-92CF-244EDCC3B136}"/>
              </a:ext>
            </a:extLst>
          </p:cNvPr>
          <p:cNvSpPr txBox="1"/>
          <p:nvPr/>
        </p:nvSpPr>
        <p:spPr>
          <a:xfrm>
            <a:off x="5115426" y="4288435"/>
            <a:ext cx="69903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of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downloaded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the web. In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lecturer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apologises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case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some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of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intentional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lecturer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revising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appropriate.</a:t>
            </a:r>
          </a:p>
        </p:txBody>
      </p:sp>
    </p:spTree>
    <p:extLst>
      <p:ext uri="{BB962C8B-B14F-4D97-AF65-F5344CB8AC3E}">
        <p14:creationId xmlns:p14="http://schemas.microsoft.com/office/powerpoint/2010/main" val="2477096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3676A83D-BA12-5A54-A0A9-4CFA17E71D26}"/>
              </a:ext>
            </a:extLst>
          </p:cNvPr>
          <p:cNvSpPr txBox="1"/>
          <p:nvPr/>
        </p:nvSpPr>
        <p:spPr>
          <a:xfrm>
            <a:off x="465542" y="1144728"/>
            <a:ext cx="1142558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it-IT" sz="11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it-IT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 le definizioni un riferimento importante  è il VIM (Vocabolario Internazionale di Metrologia)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30DB690A-A287-41AC-34F7-C252DB9055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74" y="2415039"/>
            <a:ext cx="9733852" cy="225879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E084FDFB-337F-29CD-6A47-39ECDD84A3D2}"/>
              </a:ext>
            </a:extLst>
          </p:cNvPr>
          <p:cNvSpPr txBox="1"/>
          <p:nvPr/>
        </p:nvSpPr>
        <p:spPr>
          <a:xfrm>
            <a:off x="859255" y="4773305"/>
            <a:ext cx="10638160" cy="1265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 vocabolario fornisce un insieme di definizioni e termini correlati per un sistema di concetti fondamentali e generali utilizzati in metrologia.</a:t>
            </a:r>
            <a:endParaRPr lang="en-US" altLang="it-IT" sz="24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endParaRPr lang="en-US" altLang="it-IT" sz="2000" b="1" dirty="0">
              <a:solidFill>
                <a:srgbClr val="0816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32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E14A934-3DAD-228D-8A3E-6EF1F3F4305F}"/>
              </a:ext>
            </a:extLst>
          </p:cNvPr>
          <p:cNvSpPr txBox="1"/>
          <p:nvPr/>
        </p:nvSpPr>
        <p:spPr>
          <a:xfrm>
            <a:off x="177767" y="815131"/>
            <a:ext cx="11828697" cy="18226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Grandezza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1.1 del VIM)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̀ di un fenomeno, corpo o sostanza che 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puo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̀ essere espressa quantitativamente mediante un numero e un riferimento </a:t>
            </a:r>
            <a:endParaRPr lang="en-US" sz="2000" b="1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Esempi. Raggio di un cerchio, carica elettrica dell’elettrone…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60965D0-DF12-2236-AC65-35456FE516F8}"/>
              </a:ext>
            </a:extLst>
          </p:cNvPr>
          <p:cNvSpPr txBox="1"/>
          <p:nvPr/>
        </p:nvSpPr>
        <p:spPr>
          <a:xfrm>
            <a:off x="177767" y="3066683"/>
            <a:ext cx="12014229" cy="1322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Misurazione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2.1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volto a ottenere sperimentalmente uno o 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piu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̀ valori che possono essere ragionevolmente attribuiti a una grandezza.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A13B6A3-85DB-D42E-9F48-1B3EFADFFE9F}"/>
              </a:ext>
            </a:extLst>
          </p:cNvPr>
          <p:cNvSpPr txBox="1"/>
          <p:nvPr/>
        </p:nvSpPr>
        <p:spPr>
          <a:xfrm>
            <a:off x="177771" y="4817841"/>
            <a:ext cx="12014229" cy="9528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Misurando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2.3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Grandezza che si intende misurare</a:t>
            </a:r>
          </a:p>
        </p:txBody>
      </p:sp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97370053-BDBB-4F98-7C0D-2B2CBAA1FB99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509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BC7C14D-E585-5830-33D6-5F62472FBC2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6" b="16916"/>
          <a:stretch/>
        </p:blipFill>
        <p:spPr bwMode="auto">
          <a:xfrm>
            <a:off x="208428" y="2547741"/>
            <a:ext cx="10815870" cy="17578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C98C027B-6CC3-E697-05DC-1662A0DDFAB5}"/>
              </a:ext>
            </a:extLst>
          </p:cNvPr>
          <p:cNvSpPr txBox="1"/>
          <p:nvPr/>
        </p:nvSpPr>
        <p:spPr>
          <a:xfrm>
            <a:off x="181651" y="813600"/>
            <a:ext cx="11828697" cy="1322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Catena di Misura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3.10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Serie di elementi di un sistema di misura che costituiscono un percorso univoco per il segnale dal sensore all'elemento di uscita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98AA808-D1E4-9446-5700-9E04EC0DD6B0}"/>
              </a:ext>
            </a:extLst>
          </p:cNvPr>
          <p:cNvSpPr txBox="1"/>
          <p:nvPr/>
        </p:nvSpPr>
        <p:spPr>
          <a:xfrm>
            <a:off x="208428" y="4717506"/>
            <a:ext cx="11828697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Rappresentazione molto generica.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alcuni casi sono presenti elementi/dispositivi aggiuntivi, in altri ne mancano alcuni</a:t>
            </a:r>
          </a:p>
        </p:txBody>
      </p:sp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9DE83C39-95FC-4264-A834-736F6C7A61BC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050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2284B65-4A1E-AC7D-1106-06C491838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6" b="16916"/>
          <a:stretch/>
        </p:blipFill>
        <p:spPr bwMode="auto">
          <a:xfrm>
            <a:off x="330248" y="1089298"/>
            <a:ext cx="8280352" cy="13457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6BA2043A-363F-4F77-0A04-A4888C39C83C}"/>
              </a:ext>
            </a:extLst>
          </p:cNvPr>
          <p:cNvSpPr/>
          <p:nvPr/>
        </p:nvSpPr>
        <p:spPr>
          <a:xfrm>
            <a:off x="969276" y="909856"/>
            <a:ext cx="2032833" cy="1704647"/>
          </a:xfrm>
          <a:prstGeom prst="rect">
            <a:avLst/>
          </a:prstGeom>
          <a:solidFill>
            <a:srgbClr val="FF0000">
              <a:alpha val="18000"/>
            </a:srgbClr>
          </a:solidFill>
          <a:ln w="603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A2840BB-6C75-D6DB-543F-79A56FE44EF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7" t="10031" r="2757" b="8872"/>
          <a:stretch/>
        </p:blipFill>
        <p:spPr>
          <a:xfrm>
            <a:off x="8468747" y="1156402"/>
            <a:ext cx="3638523" cy="406530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1B170D67-CDFA-66E8-D6EA-E82D4105B623}"/>
              </a:ext>
            </a:extLst>
          </p:cNvPr>
          <p:cNvSpPr txBox="1"/>
          <p:nvPr/>
        </p:nvSpPr>
        <p:spPr>
          <a:xfrm>
            <a:off x="9664245" y="4974396"/>
            <a:ext cx="2527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Richard, Figliola. "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design for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measurements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." (2011)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6006860-6A48-8CF0-E6A0-0EF2C007F17B}"/>
              </a:ext>
            </a:extLst>
          </p:cNvPr>
          <p:cNvSpPr txBox="1"/>
          <p:nvPr/>
        </p:nvSpPr>
        <p:spPr>
          <a:xfrm>
            <a:off x="84729" y="2618880"/>
            <a:ext cx="9219501" cy="30856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Trasduttore vs. Sensore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 liquido all’interno del bulbo scambia energia con l’esterno. Il fenomeno dell’espansione termica del liquido fa muovere su e giù il liquido stesso.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 liquido nel bulbo funge da sensore.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 liquido è forzato a espandersi in un capillare, che trasduce un’informazione termica in una meccanica con una ben definita relazione. Quindi il capillare interno agisce come trasduttore.</a:t>
            </a:r>
            <a:endParaRPr lang="it-IT" sz="28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FAD45F-7AE0-04B0-4B0C-32E721F38BA9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199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2284B65-4A1E-AC7D-1106-06C491838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6" b="16916"/>
          <a:stretch/>
        </p:blipFill>
        <p:spPr bwMode="auto">
          <a:xfrm>
            <a:off x="330248" y="1089298"/>
            <a:ext cx="8280352" cy="13457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6BA2043A-363F-4F77-0A04-A4888C39C83C}"/>
              </a:ext>
            </a:extLst>
          </p:cNvPr>
          <p:cNvSpPr/>
          <p:nvPr/>
        </p:nvSpPr>
        <p:spPr>
          <a:xfrm>
            <a:off x="3513221" y="909856"/>
            <a:ext cx="1907239" cy="1704647"/>
          </a:xfrm>
          <a:prstGeom prst="rect">
            <a:avLst/>
          </a:prstGeom>
          <a:solidFill>
            <a:srgbClr val="FF0000">
              <a:alpha val="18000"/>
            </a:srgbClr>
          </a:solidFill>
          <a:ln w="603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7013B30-A9DA-3FA4-D626-024AF8E98922}"/>
              </a:ext>
            </a:extLst>
          </p:cNvPr>
          <p:cNvSpPr txBox="1"/>
          <p:nvPr/>
        </p:nvSpPr>
        <p:spPr>
          <a:xfrm>
            <a:off x="418070" y="2762464"/>
            <a:ext cx="11304983" cy="29877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Processa, elabora, condiziona il segnale fornito dal primo blocco. 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 diffusissimi sono: i) amplificare o attenuare il segnale in ingresso, ii) eliminare o attenuare componenti di scarso interesse mediante filtri (es. filtri passa-basso, passa-alto, passa-banda, arresta-banda).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Tornando al caso del termometro a bulbo il diametro del capillare determina quanto varia il livello a parità di variazione di temperatura, pertanto condiziona il segnale   </a:t>
            </a:r>
            <a:endParaRPr lang="it-IT" sz="28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59CB25D8-2ABC-B8A2-1FC8-15FFD3E9BBAA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19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2284B65-4A1E-AC7D-1106-06C491838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6" b="16916"/>
          <a:stretch/>
        </p:blipFill>
        <p:spPr bwMode="auto">
          <a:xfrm>
            <a:off x="330248" y="1089298"/>
            <a:ext cx="8280352" cy="13457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6BA2043A-363F-4F77-0A04-A4888C39C83C}"/>
              </a:ext>
            </a:extLst>
          </p:cNvPr>
          <p:cNvSpPr/>
          <p:nvPr/>
        </p:nvSpPr>
        <p:spPr>
          <a:xfrm>
            <a:off x="5991728" y="909856"/>
            <a:ext cx="1907239" cy="1704647"/>
          </a:xfrm>
          <a:prstGeom prst="rect">
            <a:avLst/>
          </a:prstGeom>
          <a:solidFill>
            <a:srgbClr val="FF0000">
              <a:alpha val="18000"/>
            </a:srgbClr>
          </a:solidFill>
          <a:ln w="603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A5824E-8A5C-6186-8589-88899AE33D51}"/>
              </a:ext>
            </a:extLst>
          </p:cNvPr>
          <p:cNvSpPr txBox="1"/>
          <p:nvPr/>
        </p:nvSpPr>
        <p:spPr>
          <a:xfrm>
            <a:off x="330249" y="2676422"/>
            <a:ext cx="9961790" cy="20608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Strumento di misura indicatore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3.3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Strumento di misura che fornisce un segnale di uscita che contiene informazione sul valore della grandezza sottoposta a misurazione 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F1C3DBC-0A66-240C-852C-295DCD71E4E3}"/>
              </a:ext>
            </a:extLst>
          </p:cNvPr>
          <p:cNvSpPr txBox="1"/>
          <p:nvPr/>
        </p:nvSpPr>
        <p:spPr>
          <a:xfrm>
            <a:off x="330248" y="4221533"/>
            <a:ext cx="9221258" cy="1691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Strumento di misura visualizzatore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3.4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strumento di misura indicatore in cui il segnale di uscita è presentato in forma visiva 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11" name="Immagine 10" descr="Immagine che contiene dispositivo, metro, monitor, piccolo&#10;&#10;Descrizione generata automaticamente">
            <a:extLst>
              <a:ext uri="{FF2B5EF4-FFF2-40B4-BE49-F238E27FC236}">
                <a16:creationId xmlns:a16="http://schemas.microsoft.com/office/drawing/2014/main" id="{0DF0DD39-ED6B-69B3-D049-94D7FF37DD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722" y="2248119"/>
            <a:ext cx="1591207" cy="3150590"/>
          </a:xfrm>
          <a:prstGeom prst="rect">
            <a:avLst/>
          </a:prstGeom>
        </p:spPr>
      </p:pic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4DEA648F-DDBD-F32C-FC3D-914E063A712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49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2" descr="Termometri in tre gradi celcius">
            <a:extLst>
              <a:ext uri="{FF2B5EF4-FFF2-40B4-BE49-F238E27FC236}">
                <a16:creationId xmlns:a16="http://schemas.microsoft.com/office/drawing/2014/main" id="{ACD8574C-1737-EDFF-C47D-5EBF94A626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44"/>
          <a:stretch/>
        </p:blipFill>
        <p:spPr bwMode="auto">
          <a:xfrm>
            <a:off x="9066466" y="1036817"/>
            <a:ext cx="1470898" cy="460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A0854E5-9B27-E5E0-4145-43368DD6D332}"/>
              </a:ext>
            </a:extLst>
          </p:cNvPr>
          <p:cNvSpPr txBox="1"/>
          <p:nvPr/>
        </p:nvSpPr>
        <p:spPr>
          <a:xfrm>
            <a:off x="177773" y="1097741"/>
            <a:ext cx="8888694" cy="27995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Taratura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2.39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Operazione eseguita in condizioni specificate, che in una prima fase stabilisce una relazione tra i valori di una grandezza, con le rispettive incertezze di misura, forniti da campioni di misura, e le corrispondenti indicazioni, comprensive delle incertezze di misura associate, e in una seconda fase usa queste informazioni per stabilire una relazione che consente di ottenere un risultato di misura a partire da un’indicazione.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D04B9129-63BD-DA20-5CD6-8976E0BB8E4B}"/>
              </a:ext>
            </a:extLst>
          </p:cNvPr>
          <p:cNvGrpSpPr/>
          <p:nvPr/>
        </p:nvGrpSpPr>
        <p:grpSpPr>
          <a:xfrm>
            <a:off x="10690765" y="1036817"/>
            <a:ext cx="1470898" cy="4607799"/>
            <a:chOff x="10690765" y="1036817"/>
            <a:chExt cx="1470898" cy="4607799"/>
          </a:xfrm>
        </p:grpSpPr>
        <p:pic>
          <p:nvPicPr>
            <p:cNvPr id="12" name="Picture 2" descr="Termometri in tre gradi celcius">
              <a:extLst>
                <a:ext uri="{FF2B5EF4-FFF2-40B4-BE49-F238E27FC236}">
                  <a16:creationId xmlns:a16="http://schemas.microsoft.com/office/drawing/2014/main" id="{90393696-8875-6051-FC43-52D916B1DA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8744"/>
            <a:stretch/>
          </p:blipFill>
          <p:spPr bwMode="auto">
            <a:xfrm>
              <a:off x="10690765" y="1036817"/>
              <a:ext cx="1470898" cy="46077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D527ACD9-E4C7-446B-A80A-65A66BB42A59}"/>
                </a:ext>
              </a:extLst>
            </p:cNvPr>
            <p:cNvSpPr/>
            <p:nvPr/>
          </p:nvSpPr>
          <p:spPr>
            <a:xfrm>
              <a:off x="11747351" y="1710466"/>
              <a:ext cx="150607" cy="29045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596AF4C5-7024-FA67-CCBF-F62816A93F39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85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AC8248F-6D25-E14A-422D-7B2EC47CD714}"/>
              </a:ext>
            </a:extLst>
          </p:cNvPr>
          <p:cNvSpPr txBox="1"/>
          <p:nvPr/>
        </p:nvSpPr>
        <p:spPr>
          <a:xfrm>
            <a:off x="177773" y="1097741"/>
            <a:ext cx="10638160" cy="20608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Come effettuare la Taratura?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 basta un approccio teorico: note le funzioni di trasferimento (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fdt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dei vari blocchi della catena di misura, moltiplicandole si ottiene la 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fdt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del sistema complessivo. Nella realtà non è facile trovare teoricamente il legame ingresso-uscita, pertanto si agisce sperimentalmente.</a:t>
            </a:r>
          </a:p>
        </p:txBody>
      </p:sp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47E6770C-0CC5-B5CD-7895-A1CDFADD2BC3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99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490D5E0-E1FA-3233-4704-338E0CC90F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02" y="2875120"/>
            <a:ext cx="3638914" cy="270515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95D8242-5D6D-94C6-18F2-D81D77F9AECA}"/>
              </a:ext>
            </a:extLst>
          </p:cNvPr>
          <p:cNvSpPr txBox="1"/>
          <p:nvPr/>
        </p:nvSpPr>
        <p:spPr>
          <a:xfrm>
            <a:off x="177773" y="1097741"/>
            <a:ext cx="8888694" cy="1322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Curva di Taratura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4.31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Rappresentazione della relazione tra indicazione e corrispondente valore misurato di una grandezza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26352F64-AB88-5C1B-1ABD-88975DAB98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71" y="2977484"/>
            <a:ext cx="4352640" cy="2602791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3F67264B-3A84-2D28-FBD2-4269977D33B0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3" r="4406" b="5015"/>
          <a:stretch/>
        </p:blipFill>
        <p:spPr bwMode="auto">
          <a:xfrm>
            <a:off x="8363188" y="2638311"/>
            <a:ext cx="3651039" cy="27356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335793F1-4521-76FB-3694-28F1B2BCABF4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782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13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CD16434-2B85-B564-534B-9164D86B9CF0}"/>
              </a:ext>
            </a:extLst>
          </p:cNvPr>
          <p:cNvSpPr txBox="1"/>
          <p:nvPr/>
        </p:nvSpPr>
        <p:spPr>
          <a:xfrm>
            <a:off x="177773" y="1097741"/>
            <a:ext cx="6151590" cy="24302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Sensibilità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4.12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Rapporto tra il cambiamento dell’indicazione di un sistema di misura e il corrispondente cambiamento del valore di una grandezza sottoposta a misurazione </a:t>
            </a:r>
          </a:p>
          <a:p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FF1514A0-AF19-2F42-7886-5CBA572439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29" y="3527958"/>
            <a:ext cx="3687580" cy="97705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CDF3E5B-47D0-BE85-710E-AB433C9C96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883" y="1306118"/>
            <a:ext cx="5438590" cy="4043027"/>
          </a:xfrm>
          <a:prstGeom prst="rect">
            <a:avLst/>
          </a:prstGeom>
        </p:spPr>
      </p:pic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1E620E50-FE38-D286-46AD-43A1DC7E5E45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926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14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FAF031A-911C-6537-5448-8DF6BF85D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68" y="1632398"/>
            <a:ext cx="10751723" cy="363368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0D697986-F83A-4872-B9C6-9A1E4C15009D}"/>
              </a:ext>
            </a:extLst>
          </p:cNvPr>
          <p:cNvSpPr txBox="1"/>
          <p:nvPr/>
        </p:nvSpPr>
        <p:spPr>
          <a:xfrm>
            <a:off x="1405784" y="2974665"/>
            <a:ext cx="115797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K=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</a:t>
            </a:r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5069854A-89EC-3724-5E65-AC8410717861}"/>
              </a:ext>
            </a:extLst>
          </p:cNvPr>
          <p:cNvCxnSpPr>
            <a:cxnSpLocks/>
          </p:cNvCxnSpPr>
          <p:nvPr/>
        </p:nvCxnSpPr>
        <p:spPr>
          <a:xfrm flipV="1">
            <a:off x="1227221" y="4545419"/>
            <a:ext cx="0" cy="355445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15">
            <a:extLst>
              <a:ext uri="{FF2B5EF4-FFF2-40B4-BE49-F238E27FC236}">
                <a16:creationId xmlns:a16="http://schemas.microsoft.com/office/drawing/2014/main" id="{74A18943-2624-377E-72CD-1A38992BDA9F}"/>
              </a:ext>
            </a:extLst>
          </p:cNvPr>
          <p:cNvCxnSpPr>
            <a:cxnSpLocks/>
          </p:cNvCxnSpPr>
          <p:nvPr/>
        </p:nvCxnSpPr>
        <p:spPr>
          <a:xfrm flipV="1">
            <a:off x="1403684" y="4391247"/>
            <a:ext cx="0" cy="509617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F54D3ECC-23B8-0188-68B5-DFA4360DF581}"/>
              </a:ext>
            </a:extLst>
          </p:cNvPr>
          <p:cNvCxnSpPr>
            <a:cxnSpLocks/>
          </p:cNvCxnSpPr>
          <p:nvPr/>
        </p:nvCxnSpPr>
        <p:spPr>
          <a:xfrm flipH="1">
            <a:off x="841759" y="4545419"/>
            <a:ext cx="407879" cy="1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EE5D51AF-94AB-3C1D-46D0-8F3CD19BE12D}"/>
              </a:ext>
            </a:extLst>
          </p:cNvPr>
          <p:cNvCxnSpPr>
            <a:cxnSpLocks/>
          </p:cNvCxnSpPr>
          <p:nvPr/>
        </p:nvCxnSpPr>
        <p:spPr>
          <a:xfrm flipH="1">
            <a:off x="841759" y="4391247"/>
            <a:ext cx="561925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5CAF116-A5C8-3244-A152-69B7711F6A1E}"/>
              </a:ext>
            </a:extLst>
          </p:cNvPr>
          <p:cNvSpPr txBox="1"/>
          <p:nvPr/>
        </p:nvSpPr>
        <p:spPr>
          <a:xfrm>
            <a:off x="1122721" y="4817187"/>
            <a:ext cx="11579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l-GR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it-IT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EAF08CF-2C69-8BE0-BF3B-3707DC1DDB05}"/>
              </a:ext>
            </a:extLst>
          </p:cNvPr>
          <p:cNvSpPr txBox="1"/>
          <p:nvPr/>
        </p:nvSpPr>
        <p:spPr>
          <a:xfrm>
            <a:off x="512668" y="4296359"/>
            <a:ext cx="56050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l-GR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it-IT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76AD9C29-51E3-12C9-D670-87BCC65E19EE}"/>
              </a:ext>
            </a:extLst>
          </p:cNvPr>
          <p:cNvCxnSpPr>
            <a:cxnSpLocks/>
          </p:cNvCxnSpPr>
          <p:nvPr/>
        </p:nvCxnSpPr>
        <p:spPr>
          <a:xfrm flipV="1">
            <a:off x="2893108" y="3040912"/>
            <a:ext cx="0" cy="1857071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1 21">
            <a:extLst>
              <a:ext uri="{FF2B5EF4-FFF2-40B4-BE49-F238E27FC236}">
                <a16:creationId xmlns:a16="http://schemas.microsoft.com/office/drawing/2014/main" id="{1DB55F1B-6E27-1D4E-0766-12178C57354A}"/>
              </a:ext>
            </a:extLst>
          </p:cNvPr>
          <p:cNvCxnSpPr>
            <a:cxnSpLocks/>
          </p:cNvCxnSpPr>
          <p:nvPr/>
        </p:nvCxnSpPr>
        <p:spPr>
          <a:xfrm flipV="1">
            <a:off x="3069571" y="2870791"/>
            <a:ext cx="0" cy="2027192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D84998F5-3FE8-BE9F-6EB3-7D3D28E378DD}"/>
              </a:ext>
            </a:extLst>
          </p:cNvPr>
          <p:cNvCxnSpPr>
            <a:cxnSpLocks/>
          </p:cNvCxnSpPr>
          <p:nvPr/>
        </p:nvCxnSpPr>
        <p:spPr>
          <a:xfrm flipH="1" flipV="1">
            <a:off x="841759" y="3021861"/>
            <a:ext cx="2076240" cy="1034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7DC865A7-0114-3F91-F79F-55B095D638A3}"/>
              </a:ext>
            </a:extLst>
          </p:cNvPr>
          <p:cNvCxnSpPr>
            <a:cxnSpLocks/>
          </p:cNvCxnSpPr>
          <p:nvPr/>
        </p:nvCxnSpPr>
        <p:spPr>
          <a:xfrm flipH="1">
            <a:off x="841759" y="2868723"/>
            <a:ext cx="2230286" cy="2068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A70A4FF-640F-8CF3-1431-3A1836CC9692}"/>
              </a:ext>
            </a:extLst>
          </p:cNvPr>
          <p:cNvSpPr txBox="1"/>
          <p:nvPr/>
        </p:nvSpPr>
        <p:spPr>
          <a:xfrm>
            <a:off x="2788608" y="4814305"/>
            <a:ext cx="11579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l-GR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it-IT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5111AEB-323B-9DDB-E9BF-FD0982CBAF44}"/>
              </a:ext>
            </a:extLst>
          </p:cNvPr>
          <p:cNvSpPr txBox="1"/>
          <p:nvPr/>
        </p:nvSpPr>
        <p:spPr>
          <a:xfrm>
            <a:off x="512668" y="2765451"/>
            <a:ext cx="56050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l-GR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it-IT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</a:p>
        </p:txBody>
      </p:sp>
      <p:cxnSp>
        <p:nvCxnSpPr>
          <p:cNvPr id="27" name="Connettore 1 26">
            <a:extLst>
              <a:ext uri="{FF2B5EF4-FFF2-40B4-BE49-F238E27FC236}">
                <a16:creationId xmlns:a16="http://schemas.microsoft.com/office/drawing/2014/main" id="{C5D2CE12-CEDC-319D-47B2-17401984FC4A}"/>
              </a:ext>
            </a:extLst>
          </p:cNvPr>
          <p:cNvCxnSpPr>
            <a:cxnSpLocks/>
          </p:cNvCxnSpPr>
          <p:nvPr/>
        </p:nvCxnSpPr>
        <p:spPr>
          <a:xfrm flipV="1">
            <a:off x="5086464" y="4749553"/>
            <a:ext cx="0" cy="161113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1 27">
            <a:extLst>
              <a:ext uri="{FF2B5EF4-FFF2-40B4-BE49-F238E27FC236}">
                <a16:creationId xmlns:a16="http://schemas.microsoft.com/office/drawing/2014/main" id="{5CD334EE-FCE1-7BD2-E198-8FD2CB14A3F5}"/>
              </a:ext>
            </a:extLst>
          </p:cNvPr>
          <p:cNvCxnSpPr>
            <a:cxnSpLocks/>
          </p:cNvCxnSpPr>
          <p:nvPr/>
        </p:nvCxnSpPr>
        <p:spPr>
          <a:xfrm flipV="1">
            <a:off x="5262927" y="4689134"/>
            <a:ext cx="0" cy="221533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28">
            <a:extLst>
              <a:ext uri="{FF2B5EF4-FFF2-40B4-BE49-F238E27FC236}">
                <a16:creationId xmlns:a16="http://schemas.microsoft.com/office/drawing/2014/main" id="{0A3AB55C-DCD9-DA04-C57E-EEDEB86FF32C}"/>
              </a:ext>
            </a:extLst>
          </p:cNvPr>
          <p:cNvCxnSpPr>
            <a:cxnSpLocks/>
          </p:cNvCxnSpPr>
          <p:nvPr/>
        </p:nvCxnSpPr>
        <p:spPr>
          <a:xfrm flipH="1">
            <a:off x="4382532" y="4745239"/>
            <a:ext cx="724320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1 29">
            <a:extLst>
              <a:ext uri="{FF2B5EF4-FFF2-40B4-BE49-F238E27FC236}">
                <a16:creationId xmlns:a16="http://schemas.microsoft.com/office/drawing/2014/main" id="{ACBE84E8-A8B9-FA0B-4799-EC1D1C6BD66B}"/>
              </a:ext>
            </a:extLst>
          </p:cNvPr>
          <p:cNvCxnSpPr>
            <a:cxnSpLocks/>
          </p:cNvCxnSpPr>
          <p:nvPr/>
        </p:nvCxnSpPr>
        <p:spPr>
          <a:xfrm flipH="1">
            <a:off x="4375683" y="4689134"/>
            <a:ext cx="887244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E72A7F1-1BFB-562F-AEF0-CBB9441A9A2D}"/>
              </a:ext>
            </a:extLst>
          </p:cNvPr>
          <p:cNvSpPr txBox="1"/>
          <p:nvPr/>
        </p:nvSpPr>
        <p:spPr>
          <a:xfrm>
            <a:off x="4981964" y="4826988"/>
            <a:ext cx="11579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l-GR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it-IT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2953C8F8-C2CA-3BC8-9919-9871D5BFD1BC}"/>
              </a:ext>
            </a:extLst>
          </p:cNvPr>
          <p:cNvSpPr txBox="1"/>
          <p:nvPr/>
        </p:nvSpPr>
        <p:spPr>
          <a:xfrm>
            <a:off x="3991975" y="4540014"/>
            <a:ext cx="56050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l-GR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it-IT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y’</a:t>
            </a:r>
          </a:p>
        </p:txBody>
      </p:sp>
      <p:cxnSp>
        <p:nvCxnSpPr>
          <p:cNvPr id="33" name="Connettore 1 32">
            <a:extLst>
              <a:ext uri="{FF2B5EF4-FFF2-40B4-BE49-F238E27FC236}">
                <a16:creationId xmlns:a16="http://schemas.microsoft.com/office/drawing/2014/main" id="{E49722FE-8236-0C48-2382-1C6C6F90D22A}"/>
              </a:ext>
            </a:extLst>
          </p:cNvPr>
          <p:cNvCxnSpPr>
            <a:cxnSpLocks/>
          </p:cNvCxnSpPr>
          <p:nvPr/>
        </p:nvCxnSpPr>
        <p:spPr>
          <a:xfrm flipV="1">
            <a:off x="6929044" y="3044172"/>
            <a:ext cx="0" cy="1857071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1 33">
            <a:extLst>
              <a:ext uri="{FF2B5EF4-FFF2-40B4-BE49-F238E27FC236}">
                <a16:creationId xmlns:a16="http://schemas.microsoft.com/office/drawing/2014/main" id="{93F85966-953C-F3B6-A10F-CF63FF419421}"/>
              </a:ext>
            </a:extLst>
          </p:cNvPr>
          <p:cNvCxnSpPr>
            <a:cxnSpLocks/>
          </p:cNvCxnSpPr>
          <p:nvPr/>
        </p:nvCxnSpPr>
        <p:spPr>
          <a:xfrm flipV="1">
            <a:off x="7105507" y="2817159"/>
            <a:ext cx="0" cy="2084084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3586B54-F11F-CD12-5B8B-C1D5BB2682BC}"/>
              </a:ext>
            </a:extLst>
          </p:cNvPr>
          <p:cNvSpPr txBox="1"/>
          <p:nvPr/>
        </p:nvSpPr>
        <p:spPr>
          <a:xfrm>
            <a:off x="6824544" y="4817565"/>
            <a:ext cx="11579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l-GR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it-IT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cxnSp>
        <p:nvCxnSpPr>
          <p:cNvPr id="36" name="Connettore 1 35">
            <a:extLst>
              <a:ext uri="{FF2B5EF4-FFF2-40B4-BE49-F238E27FC236}">
                <a16:creationId xmlns:a16="http://schemas.microsoft.com/office/drawing/2014/main" id="{28961C4F-4A76-2162-15DE-587C43FF6EC3}"/>
              </a:ext>
            </a:extLst>
          </p:cNvPr>
          <p:cNvCxnSpPr>
            <a:cxnSpLocks/>
          </p:cNvCxnSpPr>
          <p:nvPr/>
        </p:nvCxnSpPr>
        <p:spPr>
          <a:xfrm flipH="1">
            <a:off x="4375683" y="3052725"/>
            <a:ext cx="255336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1 36">
            <a:extLst>
              <a:ext uri="{FF2B5EF4-FFF2-40B4-BE49-F238E27FC236}">
                <a16:creationId xmlns:a16="http://schemas.microsoft.com/office/drawing/2014/main" id="{36D9814D-4A9E-1AE3-A227-B9260D87059D}"/>
              </a:ext>
            </a:extLst>
          </p:cNvPr>
          <p:cNvCxnSpPr>
            <a:cxnSpLocks/>
          </p:cNvCxnSpPr>
          <p:nvPr/>
        </p:nvCxnSpPr>
        <p:spPr>
          <a:xfrm flipH="1" flipV="1">
            <a:off x="4375683" y="2812494"/>
            <a:ext cx="2729825" cy="1162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FCDCB27F-60E2-2B7C-31B1-37C4E6408389}"/>
              </a:ext>
            </a:extLst>
          </p:cNvPr>
          <p:cNvSpPr txBox="1"/>
          <p:nvPr/>
        </p:nvSpPr>
        <p:spPr>
          <a:xfrm>
            <a:off x="3951575" y="2748711"/>
            <a:ext cx="56050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l-GR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it-IT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y’’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460C6271-3230-3001-3D8B-0A66128F0E02}"/>
              </a:ext>
            </a:extLst>
          </p:cNvPr>
          <p:cNvSpPr txBox="1"/>
          <p:nvPr/>
        </p:nvSpPr>
        <p:spPr>
          <a:xfrm>
            <a:off x="5079753" y="2357552"/>
            <a:ext cx="1055721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l-GR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it-IT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y’’&gt;</a:t>
            </a:r>
            <a:r>
              <a:rPr lang="el-GR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it-IT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y’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62242C67-04C4-1407-FD46-771286A3CDED}"/>
              </a:ext>
            </a:extLst>
          </p:cNvPr>
          <p:cNvSpPr txBox="1"/>
          <p:nvPr/>
        </p:nvSpPr>
        <p:spPr>
          <a:xfrm>
            <a:off x="177773" y="1097741"/>
            <a:ext cx="6151590" cy="9528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Sensibilità</a:t>
            </a:r>
          </a:p>
          <a:p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404EB1F5-8FDD-1068-7FA4-B44DD702A2EF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155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15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02995B7-3AFE-C19A-E3C7-8D94908CAD00}"/>
              </a:ext>
            </a:extLst>
          </p:cNvPr>
          <p:cNvSpPr txBox="1"/>
          <p:nvPr/>
        </p:nvSpPr>
        <p:spPr>
          <a:xfrm>
            <a:off x="177772" y="1097741"/>
            <a:ext cx="10881655" cy="1691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Intervallo di misura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4.7 del VIM) (anche detto campo di misura)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Insieme dei valori di grandezze della stessa specie che possono essere misurate da un determinato strumento di misura o sistema di misura con una incertezza strumentale specificata, in condizioni d'uso definite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5F39954-D77F-16E9-7204-0FFBC2BDB3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" t="4471" r="7452" b="13515"/>
          <a:stretch/>
        </p:blipFill>
        <p:spPr>
          <a:xfrm>
            <a:off x="2127911" y="2744805"/>
            <a:ext cx="7419682" cy="2770017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6678E2F-EED1-19CA-E013-AF2AB2AC1EB5}"/>
              </a:ext>
            </a:extLst>
          </p:cNvPr>
          <p:cNvCxnSpPr>
            <a:cxnSpLocks/>
          </p:cNvCxnSpPr>
          <p:nvPr/>
        </p:nvCxnSpPr>
        <p:spPr>
          <a:xfrm flipV="1">
            <a:off x="2642135" y="4980702"/>
            <a:ext cx="0" cy="296741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147FDC4D-0AF3-E547-7FAC-D7258EDB5CC3}"/>
              </a:ext>
            </a:extLst>
          </p:cNvPr>
          <p:cNvCxnSpPr>
            <a:cxnSpLocks/>
          </p:cNvCxnSpPr>
          <p:nvPr/>
        </p:nvCxnSpPr>
        <p:spPr>
          <a:xfrm flipV="1">
            <a:off x="5151171" y="3077720"/>
            <a:ext cx="0" cy="2199723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DE8D10D-0B80-7C48-FD48-AE5D8DC8E344}"/>
              </a:ext>
            </a:extLst>
          </p:cNvPr>
          <p:cNvSpPr txBox="1"/>
          <p:nvPr/>
        </p:nvSpPr>
        <p:spPr>
          <a:xfrm>
            <a:off x="2453202" y="5191239"/>
            <a:ext cx="11579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16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it-IT" sz="1600" i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</a:t>
            </a:r>
            <a:endParaRPr lang="it-IT" sz="1600" i="1" baseline="-25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6A0B093-E5B6-AC20-BAC9-67EFAEF46A11}"/>
              </a:ext>
            </a:extLst>
          </p:cNvPr>
          <p:cNvSpPr txBox="1"/>
          <p:nvPr/>
        </p:nvSpPr>
        <p:spPr>
          <a:xfrm>
            <a:off x="4951418" y="5170974"/>
            <a:ext cx="11579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16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it-IT" sz="1600" i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endParaRPr lang="it-IT" sz="1600" i="1" baseline="-25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4DFF72C-702F-66C9-C98E-EDFB469CD464}"/>
              </a:ext>
            </a:extLst>
          </p:cNvPr>
          <p:cNvSpPr txBox="1"/>
          <p:nvPr/>
        </p:nvSpPr>
        <p:spPr>
          <a:xfrm>
            <a:off x="6286321" y="5183754"/>
            <a:ext cx="11579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16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it-IT" sz="1600" i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</a:t>
            </a:r>
            <a:endParaRPr lang="it-IT" sz="1600" i="1" baseline="-25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8E31D1-CB21-9BE0-0257-230BFA155F78}"/>
              </a:ext>
            </a:extLst>
          </p:cNvPr>
          <p:cNvSpPr txBox="1"/>
          <p:nvPr/>
        </p:nvSpPr>
        <p:spPr>
          <a:xfrm>
            <a:off x="9031639" y="5196685"/>
            <a:ext cx="11579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16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it-IT" sz="1600" i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endParaRPr lang="it-IT" sz="1600" i="1" baseline="-25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Connettore 1 15">
            <a:extLst>
              <a:ext uri="{FF2B5EF4-FFF2-40B4-BE49-F238E27FC236}">
                <a16:creationId xmlns:a16="http://schemas.microsoft.com/office/drawing/2014/main" id="{ABF8BA91-6593-DE96-CCD9-C076AA0C23A4}"/>
              </a:ext>
            </a:extLst>
          </p:cNvPr>
          <p:cNvCxnSpPr>
            <a:cxnSpLocks/>
          </p:cNvCxnSpPr>
          <p:nvPr/>
        </p:nvCxnSpPr>
        <p:spPr>
          <a:xfrm flipV="1">
            <a:off x="6444991" y="5042869"/>
            <a:ext cx="0" cy="234574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EE899A16-8FC6-8EA6-11B9-D54DEA99FAB7}"/>
              </a:ext>
            </a:extLst>
          </p:cNvPr>
          <p:cNvCxnSpPr>
            <a:cxnSpLocks/>
          </p:cNvCxnSpPr>
          <p:nvPr/>
        </p:nvCxnSpPr>
        <p:spPr>
          <a:xfrm flipV="1">
            <a:off x="9225490" y="2902801"/>
            <a:ext cx="0" cy="2374642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34">
            <a:extLst>
              <a:ext uri="{FF2B5EF4-FFF2-40B4-BE49-F238E27FC236}">
                <a16:creationId xmlns:a16="http://schemas.microsoft.com/office/drawing/2014/main" id="{A3592336-56F0-4001-468C-1286158CE90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596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02995B7-3AFE-C19A-E3C7-8D94908CAD00}"/>
              </a:ext>
            </a:extLst>
          </p:cNvPr>
          <p:cNvSpPr txBox="1"/>
          <p:nvPr/>
        </p:nvSpPr>
        <p:spPr>
          <a:xfrm>
            <a:off x="177772" y="1097741"/>
            <a:ext cx="10881655" cy="5555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Intervallo di misura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3EA61D1-7F5D-05CD-7622-54A7B9F77834}"/>
              </a:ext>
            </a:extLst>
          </p:cNvPr>
          <p:cNvSpPr txBox="1"/>
          <p:nvPr/>
        </p:nvSpPr>
        <p:spPr>
          <a:xfrm>
            <a:off x="215236" y="3338129"/>
            <a:ext cx="11692283" cy="20621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28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 può indicare con </a:t>
            </a:r>
            <a:r>
              <a:rPr lang="it-IT" sz="28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it-IT" sz="2800" i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</a:t>
            </a:r>
            <a:r>
              <a:rPr lang="it-IT" sz="28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(detta portata minima) e </a:t>
            </a:r>
            <a:r>
              <a:rPr lang="it-IT" sz="28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it-IT" sz="2800" i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endParaRPr lang="it-IT" sz="2800" i="1" baseline="-25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8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 può indicare con </a:t>
            </a:r>
            <a:r>
              <a:rPr lang="it-IT" sz="28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800" i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it-IT" sz="28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it-IT" sz="28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it-IT" sz="2800" i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lang="it-IT" sz="28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-x</a:t>
            </a:r>
            <a:r>
              <a:rPr lang="it-IT" sz="2800" i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</a:t>
            </a:r>
            <a:endParaRPr lang="it-IT" sz="2800" i="1" baseline="-25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 altro parametro spesso utilizzato è l’intervallo corrispondente delle uscite detto "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span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 o "full-scale 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operating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 (FSO). In italiano detto fondo scala</a:t>
            </a:r>
          </a:p>
          <a:p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010084BC-1450-154D-6D64-0AA660AF3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136" y="1004584"/>
            <a:ext cx="6124339" cy="2179686"/>
          </a:xfrm>
          <a:prstGeom prst="rect">
            <a:avLst/>
          </a:prstGeom>
        </p:spPr>
      </p:pic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3DD3E988-5F41-3D6E-FFB5-77F0F1E6B1FA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692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17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15756B3C-547E-1FDF-1E82-EB911F78FE2A}"/>
              </a:ext>
            </a:extLst>
          </p:cNvPr>
          <p:cNvSpPr txBox="1">
            <a:spLocks/>
          </p:cNvSpPr>
          <p:nvPr/>
        </p:nvSpPr>
        <p:spPr>
          <a:xfrm>
            <a:off x="506413" y="258202"/>
            <a:ext cx="8323139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Sommario</a:t>
            </a:r>
            <a:endParaRPr lang="en-GB" b="1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4">
            <a:extLst>
              <a:ext uri="{FF2B5EF4-FFF2-40B4-BE49-F238E27FC236}">
                <a16:creationId xmlns:a16="http://schemas.microsoft.com/office/drawing/2014/main" id="{65941367-1CAB-89D4-0AF7-B6E8D4B63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2" y="856430"/>
            <a:ext cx="11170787" cy="3108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84250" indent="-9842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3600" b="1" dirty="0">
              <a:solidFill>
                <a:schemeClr val="tx2">
                  <a:lumMod val="25000"/>
                  <a:lumOff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endParaRPr lang="en-GB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110000"/>
              </a:lnSpc>
              <a:buSzPct val="100000"/>
              <a:tabLst>
                <a:tab pos="533400" algn="l"/>
              </a:tabLst>
            </a:pPr>
            <a:endParaRPr lang="en-GB" sz="3600" b="1" dirty="0">
              <a:solidFill>
                <a:schemeClr val="tx2">
                  <a:lumMod val="25000"/>
                  <a:lumOff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US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Materiale</a:t>
            </a:r>
            <a:r>
              <a:rPr lang="en-US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didattico</a:t>
            </a:r>
            <a:endParaRPr lang="en-US" sz="3600" b="1" dirty="0">
              <a:solidFill>
                <a:schemeClr val="tx2">
                  <a:lumMod val="25000"/>
                  <a:lumOff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F1380B-44C5-866B-92CF-244EDCC3B136}"/>
              </a:ext>
            </a:extLst>
          </p:cNvPr>
          <p:cNvSpPr txBox="1"/>
          <p:nvPr/>
        </p:nvSpPr>
        <p:spPr>
          <a:xfrm>
            <a:off x="5115426" y="4288435"/>
            <a:ext cx="69903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of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downloaded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the web. In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lecturer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apologises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case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some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of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intentional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lecturer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revising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appropriate.</a:t>
            </a:r>
          </a:p>
        </p:txBody>
      </p:sp>
    </p:spTree>
    <p:extLst>
      <p:ext uri="{BB962C8B-B14F-4D97-AF65-F5344CB8AC3E}">
        <p14:creationId xmlns:p14="http://schemas.microsoft.com/office/powerpoint/2010/main" val="3204235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18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38BF2D1-D7B2-18EB-9B02-BCD3B2F0527D}"/>
              </a:ext>
            </a:extLst>
          </p:cNvPr>
          <p:cNvSpPr txBox="1"/>
          <p:nvPr/>
        </p:nvSpPr>
        <p:spPr>
          <a:xfrm>
            <a:off x="177772" y="1097741"/>
            <a:ext cx="10881655" cy="1322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Risoluzione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4.14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 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piu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̀ piccolo cambiamento della grandezza sottoposta a misurazione che provoca un cambiamento rilevabile nell’indicazione corrispondente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678F7B6-B705-99C3-E0F3-3460A1CB2AD5}"/>
              </a:ext>
            </a:extLst>
          </p:cNvPr>
          <p:cNvSpPr txBox="1"/>
          <p:nvPr/>
        </p:nvSpPr>
        <p:spPr>
          <a:xfrm>
            <a:off x="0" y="3319059"/>
            <a:ext cx="10881655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sostanza è la capacità di distinguere due valori dell’ingresso vicini tra loro. 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Dipende dalla sensibilità, dal rumore e può anche dipendere dal valore dell’ingresso</a:t>
            </a:r>
          </a:p>
        </p:txBody>
      </p:sp>
    </p:spTree>
    <p:extLst>
      <p:ext uri="{BB962C8B-B14F-4D97-AF65-F5344CB8AC3E}">
        <p14:creationId xmlns:p14="http://schemas.microsoft.com/office/powerpoint/2010/main" val="1301011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19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53DE9AC-A0B4-4D02-23DD-04A773E10FB2}"/>
              </a:ext>
            </a:extLst>
          </p:cNvPr>
          <p:cNvSpPr txBox="1"/>
          <p:nvPr/>
        </p:nvSpPr>
        <p:spPr>
          <a:xfrm>
            <a:off x="177772" y="1097741"/>
            <a:ext cx="10881655" cy="24302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Accuratezza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2.13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Grado di concordanza tra un valore misurato e un valor vero di un misurando</a:t>
            </a:r>
          </a:p>
          <a:p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Nota: L’accuratezza di misura non è una grandezza e a essa non si assegna un valore numerico. 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3BDBA34-E97D-24CB-27C2-F61122E4A801}"/>
              </a:ext>
            </a:extLst>
          </p:cNvPr>
          <p:cNvSpPr txBox="1"/>
          <p:nvPr/>
        </p:nvSpPr>
        <p:spPr>
          <a:xfrm>
            <a:off x="177771" y="3342631"/>
            <a:ext cx="10881655" cy="1691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Precisione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2.15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Grado di concordanza tra indicazioni o valori misurati ottenuti da un certo numero di misurazioni ripetute dello stesso oggetto o di oggetti similari, eseguite in condizioni specificate </a:t>
            </a:r>
          </a:p>
        </p:txBody>
      </p:sp>
    </p:spTree>
    <p:extLst>
      <p:ext uri="{BB962C8B-B14F-4D97-AF65-F5344CB8AC3E}">
        <p14:creationId xmlns:p14="http://schemas.microsoft.com/office/powerpoint/2010/main" val="2030691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20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magine 3" descr="Immagine che contiene bicicletta, volante&#10;&#10;Descrizione generata automaticamente">
            <a:extLst>
              <a:ext uri="{FF2B5EF4-FFF2-40B4-BE49-F238E27FC236}">
                <a16:creationId xmlns:a16="http://schemas.microsoft.com/office/drawing/2014/main" id="{BA94D49F-12E0-779E-D34C-5DB9EAFC880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0" r="8567"/>
          <a:stretch/>
        </p:blipFill>
        <p:spPr>
          <a:xfrm>
            <a:off x="961353" y="1409532"/>
            <a:ext cx="10269293" cy="3225096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979B9B3-4372-8065-D4F8-C1F31657EB4A}"/>
              </a:ext>
            </a:extLst>
          </p:cNvPr>
          <p:cNvSpPr txBox="1"/>
          <p:nvPr/>
        </p:nvSpPr>
        <p:spPr>
          <a:xfrm>
            <a:off x="177772" y="1097741"/>
            <a:ext cx="10881655" cy="5555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Accuratezza vs. Precisione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7EA05A4-D485-8A4B-E982-44963D3527E8}"/>
              </a:ext>
            </a:extLst>
          </p:cNvPr>
          <p:cNvSpPr txBox="1"/>
          <p:nvPr/>
        </p:nvSpPr>
        <p:spPr>
          <a:xfrm>
            <a:off x="4813926" y="5046793"/>
            <a:ext cx="4240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Richard, Figliola. "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design for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measurements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." (2011)</a:t>
            </a:r>
          </a:p>
        </p:txBody>
      </p:sp>
    </p:spTree>
    <p:extLst>
      <p:ext uri="{BB962C8B-B14F-4D97-AF65-F5344CB8AC3E}">
        <p14:creationId xmlns:p14="http://schemas.microsoft.com/office/powerpoint/2010/main" val="4113160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21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979B9B3-4372-8065-D4F8-C1F31657EB4A}"/>
              </a:ext>
            </a:extLst>
          </p:cNvPr>
          <p:cNvSpPr txBox="1"/>
          <p:nvPr/>
        </p:nvSpPr>
        <p:spPr>
          <a:xfrm>
            <a:off x="177772" y="1097741"/>
            <a:ext cx="10881655" cy="5555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Accuratezza vs. Precisione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504E7F9-C825-F7FC-F71D-7672C012A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536"/>
            <a:ext cx="4048904" cy="3470489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59D91E4-4056-4B06-AE20-A6F6DE24A8F0}"/>
              </a:ext>
            </a:extLst>
          </p:cNvPr>
          <p:cNvSpPr txBox="1"/>
          <p:nvPr/>
        </p:nvSpPr>
        <p:spPr>
          <a:xfrm>
            <a:off x="1300693" y="5204723"/>
            <a:ext cx="35500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Richard, Figliola. "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design for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measurements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." (2011)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DED7E66-EDB2-4219-8410-FB10D61EF71B}"/>
              </a:ext>
            </a:extLst>
          </p:cNvPr>
          <p:cNvSpPr txBox="1"/>
          <p:nvPr/>
        </p:nvSpPr>
        <p:spPr>
          <a:xfrm>
            <a:off x="5154961" y="1957619"/>
            <a:ext cx="6958479" cy="25483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Errore di misura sistematico (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2.17 del VIM)</a:t>
            </a:r>
          </a:p>
          <a:p>
            <a:r>
              <a:rPr lang="it-IT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Componente dell’errore di misura che in presenza di misurazioni ripetute rimane costante o varia in maniera prevedibile </a:t>
            </a:r>
          </a:p>
          <a:p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4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Errore di misura casuale (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2.19 del VIM)</a:t>
            </a:r>
          </a:p>
          <a:p>
            <a:r>
              <a:rPr lang="it-IT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Componente dell’errore di misura che in presenza di misurazioni ripetute varia in maniera non prevedibile </a:t>
            </a:r>
          </a:p>
          <a:p>
            <a:r>
              <a:rPr lang="it-IT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9713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22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979B9B3-4372-8065-D4F8-C1F31657EB4A}"/>
              </a:ext>
            </a:extLst>
          </p:cNvPr>
          <p:cNvSpPr txBox="1"/>
          <p:nvPr/>
        </p:nvSpPr>
        <p:spPr>
          <a:xfrm>
            <a:off x="177772" y="1097741"/>
            <a:ext cx="10881655" cy="5555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Accuratezza vs. Precisione</a:t>
            </a:r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45680E5B-91EE-3FDF-F313-A514E5CDCD75}"/>
              </a:ext>
            </a:extLst>
          </p:cNvPr>
          <p:cNvCxnSpPr/>
          <p:nvPr/>
        </p:nvCxnSpPr>
        <p:spPr>
          <a:xfrm>
            <a:off x="4960445" y="4045212"/>
            <a:ext cx="53122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e 9">
            <a:extLst>
              <a:ext uri="{FF2B5EF4-FFF2-40B4-BE49-F238E27FC236}">
                <a16:creationId xmlns:a16="http://schemas.microsoft.com/office/drawing/2014/main" id="{154FCD2A-BB3A-7CCF-9DE2-032002545D71}"/>
              </a:ext>
            </a:extLst>
          </p:cNvPr>
          <p:cNvSpPr/>
          <p:nvPr/>
        </p:nvSpPr>
        <p:spPr>
          <a:xfrm>
            <a:off x="5178160" y="4238926"/>
            <a:ext cx="121920" cy="12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AC2C764-EFC7-06A7-FF9F-F457789302A3}"/>
              </a:ext>
            </a:extLst>
          </p:cNvPr>
          <p:cNvSpPr txBox="1"/>
          <p:nvPr/>
        </p:nvSpPr>
        <p:spPr>
          <a:xfrm>
            <a:off x="5527242" y="4115460"/>
            <a:ext cx="2678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Valore misurato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A7EB3C6D-7C6E-E36F-43DC-DEAC427DD6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98"/>
          <a:stretch/>
        </p:blipFill>
        <p:spPr>
          <a:xfrm>
            <a:off x="9317" y="1854767"/>
            <a:ext cx="6187444" cy="177041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CDD02FD-6703-4A72-4EEE-6D231A68AD82}"/>
              </a:ext>
            </a:extLst>
          </p:cNvPr>
          <p:cNvSpPr txBox="1"/>
          <p:nvPr/>
        </p:nvSpPr>
        <p:spPr>
          <a:xfrm>
            <a:off x="5509961" y="3848552"/>
            <a:ext cx="2678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Valore del misurando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F863178-91F1-3D4B-5EF2-68DE85ECF0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71" r="2788"/>
          <a:stretch/>
        </p:blipFill>
        <p:spPr>
          <a:xfrm>
            <a:off x="6233532" y="1864787"/>
            <a:ext cx="5962242" cy="17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76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23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D178E6B-31B2-9ABC-E53F-AA9337416879}"/>
              </a:ext>
            </a:extLst>
          </p:cNvPr>
          <p:cNvSpPr txBox="1"/>
          <p:nvPr/>
        </p:nvSpPr>
        <p:spPr>
          <a:xfrm>
            <a:off x="177772" y="1097741"/>
            <a:ext cx="10881655" cy="27995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Deriva strumentale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4.21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Variazione nel tempo, continua o discreta, di un’indicazione, dovuta a variazioni delle 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̀ metrologiche di uno strumento di misura.</a:t>
            </a:r>
          </a:p>
          <a:p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 notare che non è dovuta né a variazioni della grandezza sottoposta a misurazione né a variazioni di una grandezza di influenza nota 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C384201-4DF6-A013-4B8A-665D01E444D0}"/>
              </a:ext>
            </a:extLst>
          </p:cNvPr>
          <p:cNvSpPr txBox="1"/>
          <p:nvPr/>
        </p:nvSpPr>
        <p:spPr>
          <a:xfrm>
            <a:off x="228920" y="3811015"/>
            <a:ext cx="10881655" cy="1691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Grandezza d’influenza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2.52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Grandezza che, in una misurazione diretta, non ha effetto sulla grandezza effettivamente misurata, ma influenza la relazione tra l’indicazione e il risultato di misura.</a:t>
            </a:r>
          </a:p>
        </p:txBody>
      </p:sp>
    </p:spTree>
    <p:extLst>
      <p:ext uri="{BB962C8B-B14F-4D97-AF65-F5344CB8AC3E}">
        <p14:creationId xmlns:p14="http://schemas.microsoft.com/office/powerpoint/2010/main" val="1331280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D178E6B-31B2-9ABC-E53F-AA9337416879}"/>
              </a:ext>
            </a:extLst>
          </p:cNvPr>
          <p:cNvSpPr txBox="1"/>
          <p:nvPr/>
        </p:nvSpPr>
        <p:spPr>
          <a:xfrm>
            <a:off x="177772" y="1097741"/>
            <a:ext cx="10881655" cy="1322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Deriva strumentale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4.21 del VIM)</a:t>
            </a:r>
          </a:p>
          <a:p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Variazione nel tempo, continua o discreta, di un’indicazione, dovuta a variazioni delle </a:t>
            </a:r>
            <a:r>
              <a:rPr lang="it-IT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</a:t>
            </a: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̀ metrologiche di uno strumento di misura. 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471F17D-ACBB-B494-0DAF-1F0995BAAD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322" y="2419962"/>
            <a:ext cx="8087579" cy="2819523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EB9E2517-8F01-8FF7-95BA-FD05825778F0}"/>
              </a:ext>
            </a:extLst>
          </p:cNvPr>
          <p:cNvSpPr txBox="1"/>
          <p:nvPr/>
        </p:nvSpPr>
        <p:spPr>
          <a:xfrm>
            <a:off x="3662630" y="5333264"/>
            <a:ext cx="4240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Richard, Figliola. "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design for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measurements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." (2011)</a:t>
            </a:r>
          </a:p>
        </p:txBody>
      </p:sp>
    </p:spTree>
    <p:extLst>
      <p:ext uri="{BB962C8B-B14F-4D97-AF65-F5344CB8AC3E}">
        <p14:creationId xmlns:p14="http://schemas.microsoft.com/office/powerpoint/2010/main" val="864589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25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376B7E2-CF1B-2EFF-6165-83EA11D577BF}"/>
              </a:ext>
            </a:extLst>
          </p:cNvPr>
          <p:cNvSpPr txBox="1"/>
          <p:nvPr/>
        </p:nvSpPr>
        <p:spPr>
          <a:xfrm>
            <a:off x="177772" y="1097741"/>
            <a:ext cx="10881655" cy="18226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Errore di Isteresi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Tale errore si riferisce alla differenza tra l’uscita del sistema in corrispondenza dello stesso valore del misurando quando tale misurando viene fatto variare per valori crescenti e decrescenti. L’effetto dell’isteresi è tipicamente quello riportato in figura.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85A4DDD3-97A4-D562-ED36-7E3708AEC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928" y="2804265"/>
            <a:ext cx="3729492" cy="2565511"/>
          </a:xfrm>
          <a:prstGeom prst="rect">
            <a:avLst/>
          </a:prstGeom>
        </p:spPr>
      </p:pic>
      <p:pic>
        <p:nvPicPr>
          <p:cNvPr id="11" name="Immagine 10" descr="Immagine che contiene testo&#10;&#10;Descrizione generata automaticamente">
            <a:extLst>
              <a:ext uri="{FF2B5EF4-FFF2-40B4-BE49-F238E27FC236}">
                <a16:creationId xmlns:a16="http://schemas.microsoft.com/office/drawing/2014/main" id="{4CD83C6A-6DA5-5FAB-20F6-DC25D9AE9F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605" y="3312151"/>
            <a:ext cx="4095026" cy="108717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63772C4-C239-6F44-F511-A0976972BA0C}"/>
              </a:ext>
            </a:extLst>
          </p:cNvPr>
          <p:cNvSpPr txBox="1"/>
          <p:nvPr/>
        </p:nvSpPr>
        <p:spPr>
          <a:xfrm>
            <a:off x="1586806" y="5373798"/>
            <a:ext cx="4240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Richard, Figliola. "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design for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measurements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." (2011)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8A25070-0CC3-253D-7E98-B633D4E95B3D}"/>
              </a:ext>
            </a:extLst>
          </p:cNvPr>
          <p:cNvSpPr txBox="1"/>
          <p:nvPr/>
        </p:nvSpPr>
        <p:spPr>
          <a:xfrm>
            <a:off x="5716558" y="4617675"/>
            <a:ext cx="647544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2400" i="1" dirty="0">
                <a:latin typeface="Calibri" panose="020F0502020204030204" pitchFamily="34" charset="0"/>
                <a:cs typeface="Calibri" panose="020F0502020204030204" pitchFamily="34" charset="0"/>
              </a:rPr>
              <a:t>N.B. </a:t>
            </a:r>
            <a:r>
              <a:rPr lang="it-IT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400" i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it-IT" sz="2400" i="1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it-IT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it-IT" sz="2400" i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min</a:t>
            </a:r>
            <a:r>
              <a:rPr lang="it-IT" sz="2400" i="1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it-IT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it-IT" sz="2400" i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lang="it-IT" sz="24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i="1" dirty="0">
                <a:latin typeface="Calibri" panose="020F0502020204030204" pitchFamily="34" charset="0"/>
                <a:cs typeface="Calibri" panose="020F0502020204030204" pitchFamily="34" charset="0"/>
              </a:rPr>
              <a:t>è l’ output </a:t>
            </a:r>
            <a:r>
              <a:rPr lang="it-IT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span</a:t>
            </a:r>
            <a:r>
              <a:rPr lang="it-IT" sz="2400" i="1" dirty="0">
                <a:latin typeface="Calibri" panose="020F0502020204030204" pitchFamily="34" charset="0"/>
                <a:cs typeface="Calibri" panose="020F0502020204030204" pitchFamily="34" charset="0"/>
              </a:rPr>
              <a:t> o  full-scale </a:t>
            </a:r>
            <a:r>
              <a:rPr lang="it-IT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operating</a:t>
            </a:r>
            <a:r>
              <a:rPr lang="it-IT" sz="2400" i="1" dirty="0">
                <a:latin typeface="Calibri" panose="020F0502020204030204" pitchFamily="34" charset="0"/>
                <a:cs typeface="Calibri" panose="020F0502020204030204" pitchFamily="34" charset="0"/>
              </a:rPr>
              <a:t> range (FSO) o fondo scala</a:t>
            </a:r>
          </a:p>
        </p:txBody>
      </p:sp>
    </p:spTree>
    <p:extLst>
      <p:ext uri="{BB962C8B-B14F-4D97-AF65-F5344CB8AC3E}">
        <p14:creationId xmlns:p14="http://schemas.microsoft.com/office/powerpoint/2010/main" val="2983974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26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EDB7982-550A-879C-A305-5E2E7D816041}"/>
              </a:ext>
            </a:extLst>
          </p:cNvPr>
          <p:cNvSpPr txBox="1"/>
          <p:nvPr/>
        </p:nvSpPr>
        <p:spPr>
          <a:xfrm>
            <a:off x="177774" y="1097741"/>
            <a:ext cx="7002956" cy="30856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Errore di linearità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Tale errore vale per strumenti che hanno una risposta lineare del tipo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realtà la risposta reale dello strumento si discosta leggermente dalla linearità.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97E7B4C-FE44-44BB-EB81-8BA8C5636C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698" y="2152953"/>
            <a:ext cx="3627201" cy="84268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44311F6-CA80-6B8A-1FFA-F6CED03BBFF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6" r="13131"/>
          <a:stretch/>
        </p:blipFill>
        <p:spPr>
          <a:xfrm>
            <a:off x="7061955" y="1237584"/>
            <a:ext cx="4341151" cy="3458854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2FE051E-CA5A-0718-AA88-A07C7389EB5C}"/>
              </a:ext>
            </a:extLst>
          </p:cNvPr>
          <p:cNvSpPr txBox="1"/>
          <p:nvPr/>
        </p:nvSpPr>
        <p:spPr>
          <a:xfrm>
            <a:off x="7061955" y="4708928"/>
            <a:ext cx="4240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Richard, Figliola. "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design for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measurements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." (2011)</a:t>
            </a:r>
          </a:p>
        </p:txBody>
      </p:sp>
      <p:pic>
        <p:nvPicPr>
          <p:cNvPr id="16" name="Immagine 15" descr="Immagine che contiene testo&#10;&#10;Descrizione generata automaticamente">
            <a:extLst>
              <a:ext uri="{FF2B5EF4-FFF2-40B4-BE49-F238E27FC236}">
                <a16:creationId xmlns:a16="http://schemas.microsoft.com/office/drawing/2014/main" id="{2D08E3EB-3793-0FE2-CCCD-29D192DAAC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385" y="4301171"/>
            <a:ext cx="3790615" cy="11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87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27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F38071A-81ED-278F-70AE-79C2421B0C6A}"/>
              </a:ext>
            </a:extLst>
          </p:cNvPr>
          <p:cNvSpPr txBox="1"/>
          <p:nvPr/>
        </p:nvSpPr>
        <p:spPr>
          <a:xfrm>
            <a:off x="177774" y="1097741"/>
            <a:ext cx="7002956" cy="5555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Errori vari</a:t>
            </a:r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1105B0B-F727-FF5D-2B73-6096B760187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7"/>
          <a:stretch/>
        </p:blipFill>
        <p:spPr>
          <a:xfrm>
            <a:off x="141620" y="1609408"/>
            <a:ext cx="6180687" cy="230774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DA71A12-331D-4B97-C1CA-3BD54908DA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624" y="1731343"/>
            <a:ext cx="5344642" cy="210774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E946024-8DB2-8497-8235-61D6253F44AD}"/>
              </a:ext>
            </a:extLst>
          </p:cNvPr>
          <p:cNvSpPr txBox="1"/>
          <p:nvPr/>
        </p:nvSpPr>
        <p:spPr>
          <a:xfrm>
            <a:off x="3679252" y="3995219"/>
            <a:ext cx="4240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Richard, Figliola. "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design for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measurements</a:t>
            </a:r>
            <a:r>
              <a:rPr lang="it-IT" sz="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." (2011)</a:t>
            </a:r>
          </a:p>
        </p:txBody>
      </p:sp>
    </p:spTree>
    <p:extLst>
      <p:ext uri="{BB962C8B-B14F-4D97-AF65-F5344CB8AC3E}">
        <p14:creationId xmlns:p14="http://schemas.microsoft.com/office/powerpoint/2010/main" val="893646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28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5BEB629-8E12-4950-113A-099219376AE3}"/>
              </a:ext>
            </a:extLst>
          </p:cNvPr>
          <p:cNvSpPr txBox="1"/>
          <p:nvPr/>
        </p:nvSpPr>
        <p:spPr>
          <a:xfrm>
            <a:off x="177773" y="1097741"/>
            <a:ext cx="10761573" cy="13313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 caratteristiche metrologiche dinamiche sono di particolare interesse quando il misurando varia nel tempo.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rapidità è l’attitudine di uno strumento a seguire repentine variazioni dell’ingresso.</a:t>
            </a:r>
            <a:endParaRPr lang="it-IT" sz="20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B78CEC-9C57-FE02-9A0E-9C0F03A9B85A}"/>
              </a:ext>
            </a:extLst>
          </p:cNvPr>
          <p:cNvSpPr txBox="1"/>
          <p:nvPr/>
        </p:nvSpPr>
        <p:spPr>
          <a:xfrm>
            <a:off x="181651" y="2658551"/>
            <a:ext cx="11828697" cy="22436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 di risposta al gradino (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it-IT" sz="2800" b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4.23 del 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VIM)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Durata tra l’istante in cui un valore di una grandezza in ingresso a uno strumento di misura o a un sistema di misura subisce un cambiamento repentino tra due valori costanti specificati e l’istante in cui la corrispondente indicazione si stabilizza, entro limiti assegnati, nell’intorno del valore finale di regime.</a:t>
            </a:r>
          </a:p>
        </p:txBody>
      </p:sp>
    </p:spTree>
    <p:extLst>
      <p:ext uri="{BB962C8B-B14F-4D97-AF65-F5344CB8AC3E}">
        <p14:creationId xmlns:p14="http://schemas.microsoft.com/office/powerpoint/2010/main" val="984252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29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8AC7484-7306-E6F5-A076-33266AD4D24E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3" t="2463" r="29470" b="50910"/>
          <a:stretch/>
        </p:blipFill>
        <p:spPr bwMode="auto">
          <a:xfrm>
            <a:off x="891231" y="882103"/>
            <a:ext cx="9529792" cy="33217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52482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FE366F7-1EC5-1A11-915A-A527B1D72145}"/>
              </a:ext>
            </a:extLst>
          </p:cNvPr>
          <p:cNvSpPr txBox="1"/>
          <p:nvPr/>
        </p:nvSpPr>
        <p:spPr>
          <a:xfrm>
            <a:off x="177772" y="1097741"/>
            <a:ext cx="11828697" cy="14016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Esercizio sull’accuratezza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Sul manuale tecnico di uno strumento di misura è riportata l’accuratezza. Tipicamente l’espressione dell’accuratezza contiene uno o più dei seguenti addendi: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6CD8427-8A7E-6884-09E2-0A4D6B7B4DF4}"/>
              </a:ext>
            </a:extLst>
          </p:cNvPr>
          <p:cNvSpPr txBox="1"/>
          <p:nvPr/>
        </p:nvSpPr>
        <p:spPr>
          <a:xfrm>
            <a:off x="154293" y="3464973"/>
            <a:ext cx="11828697" cy="4893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Tale espressione, in alcuni casi, consente di stimare l’incertezza di misura.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B99F9272-1EF8-33B8-736A-DDDDBFE0C2C3}"/>
                  </a:ext>
                </a:extLst>
              </p:cNvPr>
              <p:cNvSpPr/>
              <p:nvPr/>
            </p:nvSpPr>
            <p:spPr>
              <a:xfrm>
                <a:off x="2452756" y="2751147"/>
                <a:ext cx="85763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𝑎𝑐𝑐𝑢𝑟𝑎𝑡𝑒𝑧𝑧𝑎</m:t>
                    </m:r>
                    <m:r>
                      <a:rPr lang="it-IT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=±</m:t>
                    </m:r>
                    <m:d>
                      <m:dPr>
                        <m:ctrlPr>
                          <a:rPr lang="it-IT" sz="28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it-IT" sz="28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%FS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%R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costante</m:t>
                        </m:r>
                      </m:e>
                    </m:d>
                    <m:r>
                      <m:rPr>
                        <m:nor/>
                      </m:rPr>
                      <a:rPr lang="it-IT" sz="28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</m:t>
                    </m:r>
                  </m:oMath>
                </a14:m>
                <a:r>
                  <a:rPr lang="it-IT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		</a:t>
                </a:r>
                <a:r>
                  <a:rPr lang="it-IT" sz="2800" dirty="0">
                    <a:effectLst/>
                  </a:rPr>
                  <a:t> </a:t>
                </a:r>
                <a:endParaRPr lang="it-IT" sz="2800" dirty="0"/>
              </a:p>
            </p:txBody>
          </p:sp>
        </mc:Choice>
        <mc:Fallback xmlns=""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B99F9272-1EF8-33B8-736A-DDDDBFE0C2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756" y="2751147"/>
                <a:ext cx="8576387" cy="523220"/>
              </a:xfrm>
              <a:prstGeom prst="rect">
                <a:avLst/>
              </a:prstGeom>
              <a:blipFill>
                <a:blip r:embed="rId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70A72F47-B628-FF33-7CBD-0412D77F3785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252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31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796A43E-9ED9-5AC3-0105-D3DC7F0D814E}"/>
              </a:ext>
            </a:extLst>
          </p:cNvPr>
          <p:cNvSpPr txBox="1"/>
          <p:nvPr/>
        </p:nvSpPr>
        <p:spPr>
          <a:xfrm>
            <a:off x="177772" y="1097741"/>
            <a:ext cx="8051956" cy="43486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Esercizio sull’accuratezza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L’espressione dell’accuratezza dello strumento di misura riportato in figura è la seguente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Inoltre il sistema ha un intervallo di misura da 0 V a 10 V e una risoluzione di 0.001V.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Calcolare il valore associato all’espressione dell’accuratezza considerando che nel corso della misurazione lo strumento di misura riporta un valore letto pari a 7.342 V.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B6E4DD92-EB37-1BB9-F9E9-E7AC8EE05156}"/>
                  </a:ext>
                </a:extLst>
              </p:cNvPr>
              <p:cNvSpPr/>
              <p:nvPr/>
            </p:nvSpPr>
            <p:spPr>
              <a:xfrm>
                <a:off x="214843" y="2622428"/>
                <a:ext cx="765305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𝑎𝑐𝑐𝑢𝑟𝑎𝑡𝑒𝑧𝑧𝑎</m:t>
                    </m:r>
                    <m:r>
                      <a:rPr lang="it-IT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=±</m:t>
                    </m:r>
                    <m:d>
                      <m:dPr>
                        <m:ctrlPr>
                          <a:rPr lang="it-IT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it-IT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0.5</m:t>
                        </m:r>
                        <m:r>
                          <m:rPr>
                            <m:nor/>
                          </m:rPr>
                          <a:rPr lang="it-IT" sz="28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%FS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it-IT" sz="28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%R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  <m:r>
                      <m:rPr>
                        <m:nor/>
                      </m:rPr>
                      <a:rPr lang="it-IT" sz="28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</m:t>
                    </m:r>
                  </m:oMath>
                </a14:m>
                <a:r>
                  <a:rPr lang="it-IT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		</a:t>
                </a:r>
                <a:r>
                  <a:rPr lang="it-IT" sz="2800" dirty="0">
                    <a:effectLst/>
                  </a:rPr>
                  <a:t> </a:t>
                </a:r>
                <a:endParaRPr lang="it-IT" sz="2800" dirty="0"/>
              </a:p>
            </p:txBody>
          </p:sp>
        </mc:Choice>
        <mc:Fallback xmlns=""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B6E4DD92-EB37-1BB9-F9E9-E7AC8EE051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43" y="2622428"/>
                <a:ext cx="7653057" cy="523220"/>
              </a:xfrm>
              <a:prstGeom prst="rect">
                <a:avLst/>
              </a:prstGeom>
              <a:blipFill>
                <a:blip r:embed="rId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25532689-CDA9-0832-E4A1-D8E4FF17A090}"/>
              </a:ext>
            </a:extLst>
          </p:cNvPr>
          <p:cNvSpPr/>
          <p:nvPr/>
        </p:nvSpPr>
        <p:spPr>
          <a:xfrm>
            <a:off x="8615191" y="1727260"/>
            <a:ext cx="1421176" cy="278726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D0246155-9EE4-21E7-0EA8-45844C8E9A24}"/>
              </a:ext>
            </a:extLst>
          </p:cNvPr>
          <p:cNvSpPr/>
          <p:nvPr/>
        </p:nvSpPr>
        <p:spPr>
          <a:xfrm>
            <a:off x="8846545" y="2115239"/>
            <a:ext cx="958467" cy="50718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7.342 V</a:t>
            </a:r>
          </a:p>
        </p:txBody>
      </p:sp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CCB02913-51DE-93DC-2AAC-B5C08681B2EB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520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32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AF7DE765-C727-6C32-F542-B19EA13C550E}"/>
                  </a:ext>
                </a:extLst>
              </p:cNvPr>
              <p:cNvSpPr txBox="1"/>
              <p:nvPr/>
            </p:nvSpPr>
            <p:spPr>
              <a:xfrm>
                <a:off x="439578" y="3671486"/>
                <a:ext cx="7379799" cy="2146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1% </a:t>
                </a:r>
                <a:r>
                  <a:rPr lang="it-IT" sz="2400" i="1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endParaRPr lang="it-IT" sz="24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Rappresenta il valore percentuale (in questo caso 1%) del valore letto.</a:t>
                </a: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7.342 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=0.07342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it-IT" sz="24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AF7DE765-C727-6C32-F542-B19EA13C5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78" y="3671486"/>
                <a:ext cx="7379799" cy="2146357"/>
              </a:xfrm>
              <a:prstGeom prst="rect">
                <a:avLst/>
              </a:prstGeom>
              <a:blipFill>
                <a:blip r:embed="rId4"/>
                <a:stretch>
                  <a:fillRect l="-1375" b="-17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42E3470C-4A9A-3CA2-DEF9-FEDEAE925FD3}"/>
                  </a:ext>
                </a:extLst>
              </p:cNvPr>
              <p:cNvSpPr txBox="1"/>
              <p:nvPr/>
            </p:nvSpPr>
            <p:spPr>
              <a:xfrm>
                <a:off x="327415" y="738868"/>
                <a:ext cx="9940305" cy="29729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0.5% FS</a:t>
                </a: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Rappresenta il valore percentuale dell’estremo superiore dell’intervallo di misura.</a:t>
                </a: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num>
                        <m:den>
                          <m: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10 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=0.05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it-IT" sz="24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Questo è uno dei casi in cui il valore di FS viene in genere calcolato come </a:t>
                </a:r>
                <a:r>
                  <a:rPr lang="it-IT" sz="2400" i="1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</a:t>
                </a:r>
                <a:r>
                  <a:rPr lang="it-IT" sz="2400" i="1" baseline="-25000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max</a:t>
                </a: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e non come </a:t>
                </a:r>
                <a:r>
                  <a:rPr lang="it-IT" sz="2400" i="1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</a:t>
                </a:r>
                <a:r>
                  <a:rPr lang="it-IT" sz="2400" i="1" baseline="-25000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max</a:t>
                </a:r>
                <a:r>
                  <a:rPr lang="it-IT" sz="2400" i="1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-y</a:t>
                </a:r>
                <a:r>
                  <a:rPr lang="it-IT" sz="2400" i="1" baseline="-25000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min</a:t>
                </a:r>
                <a:endParaRPr lang="it-IT" sz="24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42E3470C-4A9A-3CA2-DEF9-FEDEAE925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15" y="738868"/>
                <a:ext cx="9940305" cy="2972930"/>
              </a:xfrm>
              <a:prstGeom prst="rect">
                <a:avLst/>
              </a:prstGeom>
              <a:blipFill>
                <a:blip r:embed="rId5"/>
                <a:stretch>
                  <a:fillRect l="-893" t="-426" r="-638" b="-34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2D3BE483-F627-6B29-874D-BD99B4228AB8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0128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33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37AD662-0940-8698-C142-93AD5BC6BAC5}"/>
                  </a:ext>
                </a:extLst>
              </p:cNvPr>
              <p:cNvSpPr txBox="1"/>
              <p:nvPr/>
            </p:nvSpPr>
            <p:spPr>
              <a:xfrm>
                <a:off x="177772" y="1097741"/>
                <a:ext cx="9120464" cy="21973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K=3</a:t>
                </a: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Rappresenta una costante. Se riportata con un numero intero e adimensionale il contributo associato a K è ottenuto dal prodotto tra K e la risoluzione dello strumento.</a:t>
                </a: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14:m>
                  <m:oMathPara xmlns:m="http://schemas.openxmlformats.org/officeDocument/2006/math">
                    <m:oMath>
                      <m:r>
                        <a:rPr lang="it-IT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0.001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=0.003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it-IT" sz="24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37AD662-0940-8698-C142-93AD5BC6B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2" y="1097741"/>
                <a:ext cx="9120464" cy="2197396"/>
              </a:xfrm>
              <a:prstGeom prst="rect">
                <a:avLst/>
              </a:prstGeom>
              <a:blipFill>
                <a:blip r:embed="rId4"/>
                <a:stretch>
                  <a:fillRect l="-974" t="-575" r="-1252" b="-22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55C663CD-6D07-42E1-A99A-1282E14C78C8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534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34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AB29D1C3-C925-95A4-C3E1-617265216C30}"/>
                  </a:ext>
                </a:extLst>
              </p:cNvPr>
              <p:cNvSpPr/>
              <p:nvPr/>
            </p:nvSpPr>
            <p:spPr>
              <a:xfrm>
                <a:off x="891231" y="1586607"/>
                <a:ext cx="765305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8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𝑎𝑐𝑐𝑢𝑟𝑎𝑡𝑒𝑧𝑧𝑎</m:t>
                    </m:r>
                    <m:r>
                      <a:rPr lang="it-IT" sz="28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=±</m:t>
                    </m:r>
                    <m:d>
                      <m:dPr>
                        <m:ctrlPr>
                          <a:rPr lang="it-IT" sz="2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it-IT" sz="2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0.5</m:t>
                        </m:r>
                        <m:r>
                          <m:rPr>
                            <m:nor/>
                          </m:rPr>
                          <a:rPr lang="it-IT" sz="2800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%FS</m:t>
                        </m:r>
                        <m:r>
                          <a:rPr lang="it-IT" sz="280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it-IT" sz="2800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%R</m:t>
                        </m:r>
                        <m:r>
                          <a:rPr lang="it-IT" sz="280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e>
                    </m:d>
                    <m:r>
                      <m:rPr>
                        <m:nor/>
                      </m:rPr>
                      <a:rPr lang="it-IT" sz="28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  </m:t>
                    </m:r>
                  </m:oMath>
                </a14:m>
                <a:r>
                  <a:rPr lang="it-IT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	</a:t>
                </a:r>
                <a:r>
                  <a:rPr lang="it-IT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it-IT" sz="28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AB29D1C3-C925-95A4-C3E1-617265216C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231" y="1586607"/>
                <a:ext cx="7653057" cy="523220"/>
              </a:xfrm>
              <a:prstGeom prst="rect">
                <a:avLst/>
              </a:prstGeom>
              <a:blipFill>
                <a:blip r:embed="rId4"/>
                <a:stretch>
                  <a:fillRect t="-9302" b="-232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D7CFFA21-09A4-1C04-AE48-0E40CEC71D23}"/>
                  </a:ext>
                </a:extLst>
              </p:cNvPr>
              <p:cNvSpPr/>
              <p:nvPr/>
            </p:nvSpPr>
            <p:spPr>
              <a:xfrm>
                <a:off x="1277644" y="2648678"/>
                <a:ext cx="85763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it-IT" sz="2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it-IT" sz="2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0.05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V</m:t>
                        </m:r>
                        <m:r>
                          <a:rPr lang="it-IT" sz="280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0.07342V</m:t>
                        </m:r>
                        <m:r>
                          <a:rPr lang="it-IT" sz="280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0.003V</m:t>
                        </m:r>
                      </m:e>
                    </m:d>
                    <m:r>
                      <a:rPr lang="it-IT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=0.12642</m:t>
                    </m:r>
                    <m:r>
                      <a:rPr lang="it-IT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</m:t>
                    </m:r>
                    <m:r>
                      <m:rPr>
                        <m:nor/>
                      </m:rPr>
                      <a:rPr lang="it-IT" sz="28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  </m:t>
                    </m:r>
                  </m:oMath>
                </a14:m>
                <a:r>
                  <a:rPr lang="it-IT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	</a:t>
                </a:r>
                <a:r>
                  <a:rPr lang="it-IT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it-IT" sz="28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D7CFFA21-09A4-1C04-AE48-0E40CEC71D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644" y="2648678"/>
                <a:ext cx="8576387" cy="523220"/>
              </a:xfrm>
              <a:prstGeom prst="rect">
                <a:avLst/>
              </a:prstGeom>
              <a:blipFill>
                <a:blip r:embed="rId5"/>
                <a:stretch>
                  <a:fillRect t="-9524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30FEDDC9-04E3-AD27-A789-AA22BB2A20A4}"/>
              </a:ext>
            </a:extLst>
          </p:cNvPr>
          <p:cNvSpPr txBox="1"/>
          <p:nvPr/>
        </p:nvSpPr>
        <p:spPr>
          <a:xfrm>
            <a:off x="327415" y="3372966"/>
            <a:ext cx="9120464" cy="13313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-) Queste considerazioni vi spingono a pensare alla misura come a un intervallo e non a un valore .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-) Attenti al numero di cifre con cui viene riportato il valore calcolato </a:t>
            </a:r>
          </a:p>
        </p:txBody>
      </p:sp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D39751A2-A4BC-E289-38A4-E62DDE68166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409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35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480B314-55C9-5F6C-463C-5938DE0263F3}"/>
              </a:ext>
            </a:extLst>
          </p:cNvPr>
          <p:cNvSpPr txBox="1"/>
          <p:nvPr/>
        </p:nvSpPr>
        <p:spPr>
          <a:xfrm>
            <a:off x="177772" y="1097741"/>
            <a:ext cx="8051956" cy="43486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Esercizio sull’accuratezza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L’espressione dell’accuratezza dello strumento di misura riportato in figura è la seguente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Inoltre il sistema ha un intervallo di misura da 0 V a 10 V e una risoluzione di 0.001V.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Calcolare il valore associato all’espressione dell’accuratezza considerando che nel corso della misurazione lo strumento di misura riporta un valore letto pari a 7.342 V.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7EF8C55B-6E4C-3405-0AEF-5DA09D7937D9}"/>
                  </a:ext>
                </a:extLst>
              </p:cNvPr>
              <p:cNvSpPr/>
              <p:nvPr/>
            </p:nvSpPr>
            <p:spPr>
              <a:xfrm>
                <a:off x="214843" y="2622428"/>
                <a:ext cx="85763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𝑎𝑐𝑐𝑢𝑟𝑎𝑡𝑒𝑧𝑧𝑎</m:t>
                    </m:r>
                    <m:r>
                      <a:rPr lang="it-IT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=±</m:t>
                    </m:r>
                    <m:d>
                      <m:dPr>
                        <m:ctrlPr>
                          <a:rPr lang="it-IT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it-IT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0.5</m:t>
                        </m:r>
                        <m:r>
                          <m:rPr>
                            <m:nor/>
                          </m:rPr>
                          <a:rPr lang="it-IT" sz="28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%FS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it-IT" sz="28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%R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0.007V</m:t>
                        </m:r>
                      </m:e>
                    </m:d>
                    <m:r>
                      <m:rPr>
                        <m:nor/>
                      </m:rPr>
                      <a:rPr lang="it-IT" sz="28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</m:t>
                    </m:r>
                  </m:oMath>
                </a14:m>
                <a:r>
                  <a:rPr lang="it-IT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		</a:t>
                </a:r>
                <a:r>
                  <a:rPr lang="it-IT" sz="2800" dirty="0">
                    <a:effectLst/>
                  </a:rPr>
                  <a:t> </a:t>
                </a:r>
                <a:endParaRPr lang="it-IT" sz="2800" dirty="0"/>
              </a:p>
            </p:txBody>
          </p:sp>
        </mc:Choice>
        <mc:Fallback xmlns=""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7EF8C55B-6E4C-3405-0AEF-5DA09D793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43" y="2622428"/>
                <a:ext cx="8576387" cy="523220"/>
              </a:xfrm>
              <a:prstGeom prst="rect">
                <a:avLst/>
              </a:prstGeom>
              <a:blipFill>
                <a:blip r:embed="rId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CC7B51B3-F3AB-3C09-F590-158507EE4A2D}"/>
              </a:ext>
            </a:extLst>
          </p:cNvPr>
          <p:cNvSpPr/>
          <p:nvPr/>
        </p:nvSpPr>
        <p:spPr>
          <a:xfrm>
            <a:off x="8615191" y="1727260"/>
            <a:ext cx="1421176" cy="278726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F6109649-EA4D-21E0-3DFE-42EB5BAF227E}"/>
              </a:ext>
            </a:extLst>
          </p:cNvPr>
          <p:cNvSpPr/>
          <p:nvPr/>
        </p:nvSpPr>
        <p:spPr>
          <a:xfrm>
            <a:off x="8846545" y="2115239"/>
            <a:ext cx="958467" cy="50718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7.342 V</a:t>
            </a:r>
          </a:p>
        </p:txBody>
      </p:sp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EE9F9CD9-9A0B-B5D3-673D-828D28CAE9BB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680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36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462C27E-1B8E-0607-D49D-61E7547E9416}"/>
                  </a:ext>
                </a:extLst>
              </p:cNvPr>
              <p:cNvSpPr txBox="1"/>
              <p:nvPr/>
            </p:nvSpPr>
            <p:spPr>
              <a:xfrm>
                <a:off x="439577" y="3175923"/>
                <a:ext cx="7379799" cy="2146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1% </a:t>
                </a:r>
                <a:r>
                  <a:rPr lang="it-IT" sz="2400" i="1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endParaRPr lang="it-IT" sz="24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Rappresenta il valore percentuale (in questo caso 1%) del valore letto.</a:t>
                </a: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7.342 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=0.07342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it-IT" sz="24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462C27E-1B8E-0607-D49D-61E7547E9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77" y="3175923"/>
                <a:ext cx="7379799" cy="2146357"/>
              </a:xfrm>
              <a:prstGeom prst="rect">
                <a:avLst/>
              </a:prstGeom>
              <a:blipFill>
                <a:blip r:embed="rId4"/>
                <a:stretch>
                  <a:fillRect l="-1375" t="-588" b="-1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0428D530-EE67-848A-65A8-97B13FB58DA1}"/>
                  </a:ext>
                </a:extLst>
              </p:cNvPr>
              <p:cNvSpPr txBox="1"/>
              <p:nvPr/>
            </p:nvSpPr>
            <p:spPr>
              <a:xfrm>
                <a:off x="439578" y="1015916"/>
                <a:ext cx="7379799" cy="2146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0.5% FS</a:t>
                </a: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:r>
                  <a:rPr lang="it-IT" sz="2400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Rappresenta il valore percentuale dell’estremo superiore dell’intervallo di misura.</a:t>
                </a:r>
              </a:p>
              <a:p>
                <a:pPr>
                  <a:lnSpc>
                    <a:spcPct val="114000"/>
                  </a:lnSpc>
                  <a:spcBef>
                    <a:spcPct val="0"/>
                  </a:spcBef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num>
                        <m:den>
                          <m:r>
                            <a:rPr lang="it-IT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10 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=0.05 </m:t>
                      </m:r>
                      <m:r>
                        <a:rPr lang="it-IT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it-IT" sz="24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0428D530-EE67-848A-65A8-97B13FB58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78" y="1015916"/>
                <a:ext cx="7379799" cy="2146357"/>
              </a:xfrm>
              <a:prstGeom prst="rect">
                <a:avLst/>
              </a:prstGeom>
              <a:blipFill>
                <a:blip r:embed="rId5"/>
                <a:stretch>
                  <a:fillRect l="-1375" t="-588" b="-17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5C52D50C-4774-FE86-F4D2-0F10F6297783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7840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37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233D8F2-C31A-2F9C-C021-C3CF745B0581}"/>
              </a:ext>
            </a:extLst>
          </p:cNvPr>
          <p:cNvSpPr txBox="1"/>
          <p:nvPr/>
        </p:nvSpPr>
        <p:spPr>
          <a:xfrm>
            <a:off x="177772" y="1097741"/>
            <a:ext cx="9120464" cy="17524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K=0.007 V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Rappresenta una costante riportata con la stessa unità di misura del misurando. In questo caso è semplicemente tale valore (0.007 V) da inserire come addendo nell’espressione dell’accuratezza</a:t>
            </a:r>
          </a:p>
        </p:txBody>
      </p:sp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9F4D45CB-EB67-F14F-6F0E-6A718B68C208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6861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38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1BCC7B11-8D1C-33FA-4E4D-4C7B46D69CC0}"/>
                  </a:ext>
                </a:extLst>
              </p:cNvPr>
              <p:cNvSpPr/>
              <p:nvPr/>
            </p:nvSpPr>
            <p:spPr>
              <a:xfrm>
                <a:off x="891231" y="1586607"/>
                <a:ext cx="85763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𝑎𝑐𝑐𝑢𝑟𝑎𝑡𝑒𝑧𝑧𝑎</m:t>
                    </m:r>
                    <m:r>
                      <a:rPr lang="it-IT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=±</m:t>
                    </m:r>
                    <m:d>
                      <m:dPr>
                        <m:ctrlPr>
                          <a:rPr lang="it-IT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it-IT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0.5</m:t>
                        </m:r>
                        <m:r>
                          <m:rPr>
                            <m:nor/>
                          </m:rPr>
                          <a:rPr lang="it-IT" sz="28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%FS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it-IT" sz="2800" i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%R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0.007 V</m:t>
                        </m:r>
                      </m:e>
                    </m:d>
                    <m:r>
                      <m:rPr>
                        <m:nor/>
                      </m:rPr>
                      <a:rPr lang="it-IT" sz="28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</m:t>
                    </m:r>
                  </m:oMath>
                </a14:m>
                <a:r>
                  <a:rPr lang="it-IT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		</a:t>
                </a:r>
                <a:r>
                  <a:rPr lang="it-IT" sz="2800" dirty="0">
                    <a:effectLst/>
                  </a:rPr>
                  <a:t> </a:t>
                </a:r>
                <a:endParaRPr lang="it-IT" sz="2800" dirty="0"/>
              </a:p>
            </p:txBody>
          </p:sp>
        </mc:Choice>
        <mc:Fallback xmlns=""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1BCC7B11-8D1C-33FA-4E4D-4C7B46D69C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231" y="1586607"/>
                <a:ext cx="8576387" cy="523220"/>
              </a:xfrm>
              <a:prstGeom prst="rect">
                <a:avLst/>
              </a:prstGeom>
              <a:blipFill>
                <a:blip r:embed="rId4"/>
                <a:stretch>
                  <a:fillRect b="-209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FF9238CF-8EB5-4657-717D-38BBE6702138}"/>
                  </a:ext>
                </a:extLst>
              </p:cNvPr>
              <p:cNvSpPr/>
              <p:nvPr/>
            </p:nvSpPr>
            <p:spPr>
              <a:xfrm>
                <a:off x="1277644" y="2648678"/>
                <a:ext cx="85763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it-IT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it-IT" sz="2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0.05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0.07342V</m:t>
                        </m:r>
                        <m:r>
                          <a:rPr lang="it-IT" sz="28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it-IT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0.007 V</m:t>
                        </m:r>
                      </m:e>
                    </m:d>
                    <m:r>
                      <a:rPr lang="it-IT" sz="2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=0.13042</m:t>
                    </m:r>
                    <m:r>
                      <a:rPr lang="it-IT" sz="2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</m:t>
                    </m:r>
                    <m:r>
                      <m:rPr>
                        <m:nor/>
                      </m:rPr>
                      <a:rPr lang="it-IT" sz="2800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</m:t>
                    </m:r>
                  </m:oMath>
                </a14:m>
                <a:r>
                  <a:rPr lang="it-IT" sz="28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		</a:t>
                </a:r>
                <a:r>
                  <a:rPr lang="it-IT" sz="2800" dirty="0">
                    <a:effectLst/>
                  </a:rPr>
                  <a:t> </a:t>
                </a:r>
                <a:endParaRPr lang="it-IT" sz="2800" dirty="0"/>
              </a:p>
            </p:txBody>
          </p:sp>
        </mc:Choice>
        <mc:Fallback xmlns="">
          <p:sp>
            <p:nvSpPr>
              <p:cNvPr id="4" name="Rettangolo 3">
                <a:extLst>
                  <a:ext uri="{FF2B5EF4-FFF2-40B4-BE49-F238E27FC236}">
                    <a16:creationId xmlns:a16="http://schemas.microsoft.com/office/drawing/2014/main" id="{FF9238CF-8EB5-4657-717D-38BBE67021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644" y="2648678"/>
                <a:ext cx="8576387" cy="523220"/>
              </a:xfrm>
              <a:prstGeom prst="rect">
                <a:avLst/>
              </a:prstGeom>
              <a:blipFill>
                <a:blip r:embed="rId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B52A2945-E6BE-7109-52DC-41F265D6FFE6}"/>
              </a:ext>
            </a:extLst>
          </p:cNvPr>
          <p:cNvSpPr txBox="1"/>
          <p:nvPr/>
        </p:nvSpPr>
        <p:spPr>
          <a:xfrm>
            <a:off x="327415" y="3372966"/>
            <a:ext cx="9120464" cy="13313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-) Queste considerazioni vi spingono a pensare alla misura come a un intervallo e non a un valore .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-) Attenti al numero di cifre con cui viene riportato il valore calcolato </a:t>
            </a:r>
          </a:p>
        </p:txBody>
      </p:sp>
      <p:sp>
        <p:nvSpPr>
          <p:cNvPr id="8" name="Text Placeholder 34">
            <a:extLst>
              <a:ext uri="{FF2B5EF4-FFF2-40B4-BE49-F238E27FC236}">
                <a16:creationId xmlns:a16="http://schemas.microsoft.com/office/drawing/2014/main" id="{DA0EE163-4DBC-5912-3D64-A20BC386CF05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871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39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15756B3C-547E-1FDF-1E82-EB911F78FE2A}"/>
              </a:ext>
            </a:extLst>
          </p:cNvPr>
          <p:cNvSpPr txBox="1">
            <a:spLocks/>
          </p:cNvSpPr>
          <p:nvPr/>
        </p:nvSpPr>
        <p:spPr>
          <a:xfrm>
            <a:off x="506413" y="258202"/>
            <a:ext cx="8323139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Sommario</a:t>
            </a:r>
            <a:endParaRPr lang="en-GB" b="1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4">
            <a:extLst>
              <a:ext uri="{FF2B5EF4-FFF2-40B4-BE49-F238E27FC236}">
                <a16:creationId xmlns:a16="http://schemas.microsoft.com/office/drawing/2014/main" id="{65941367-1CAB-89D4-0AF7-B6E8D4B63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2" y="856430"/>
            <a:ext cx="11170787" cy="3108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84250" indent="-9842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Contenuti</a:t>
            </a:r>
            <a:r>
              <a:rPr lang="en-GB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precedente</a:t>
            </a:r>
            <a:endParaRPr lang="en-GB" sz="3600" b="1" dirty="0">
              <a:solidFill>
                <a:schemeClr val="tx2">
                  <a:lumMod val="25000"/>
                  <a:lumOff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endParaRPr lang="en-GB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36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3600" b="1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endParaRPr lang="en-GB" sz="3600" b="1" dirty="0">
              <a:solidFill>
                <a:schemeClr val="tx2">
                  <a:lumMod val="25000"/>
                  <a:lumOff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110000"/>
              </a:lnSpc>
              <a:buSzPct val="100000"/>
              <a:tabLst>
                <a:tab pos="533400" algn="l"/>
              </a:tabLst>
            </a:pPr>
            <a:endParaRPr lang="en-GB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1" hangingPunct="1">
              <a:lnSpc>
                <a:spcPct val="110000"/>
              </a:lnSpc>
              <a:buSzPct val="100000"/>
              <a:buFont typeface="Wingdings" pitchFamily="2" charset="2"/>
              <a:buChar char="Ø"/>
              <a:tabLst>
                <a:tab pos="533400" algn="l"/>
              </a:tabLst>
            </a:pPr>
            <a:r>
              <a:rPr lang="en-US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Materiale</a:t>
            </a:r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didattico</a:t>
            </a:r>
            <a:endParaRPr lang="en-US" sz="36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F1380B-44C5-866B-92CF-244EDCC3B136}"/>
              </a:ext>
            </a:extLst>
          </p:cNvPr>
          <p:cNvSpPr txBox="1"/>
          <p:nvPr/>
        </p:nvSpPr>
        <p:spPr>
          <a:xfrm>
            <a:off x="5115426" y="4288435"/>
            <a:ext cx="69903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of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downloaded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the web. In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lecturer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apologises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case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some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referenced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properly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of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intentional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the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lecturer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revising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it-IT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appropriate.</a:t>
            </a:r>
          </a:p>
        </p:txBody>
      </p:sp>
    </p:spTree>
    <p:extLst>
      <p:ext uri="{BB962C8B-B14F-4D97-AF65-F5344CB8AC3E}">
        <p14:creationId xmlns:p14="http://schemas.microsoft.com/office/powerpoint/2010/main" val="489389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B0755D1D-B539-C03F-5509-C9A2F52B89F7}"/>
              </a:ext>
            </a:extLst>
          </p:cNvPr>
          <p:cNvSpPr txBox="1">
            <a:spLocks/>
          </p:cNvSpPr>
          <p:nvPr/>
        </p:nvSpPr>
        <p:spPr>
          <a:xfrm>
            <a:off x="506413" y="295273"/>
            <a:ext cx="10847387" cy="4666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 –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Materiale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didattico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15FBF02-A91A-C2E7-F8A6-AC8DCA908876}"/>
              </a:ext>
            </a:extLst>
          </p:cNvPr>
          <p:cNvSpPr txBox="1"/>
          <p:nvPr/>
        </p:nvSpPr>
        <p:spPr>
          <a:xfrm>
            <a:off x="177772" y="1097741"/>
            <a:ext cx="10881655" cy="5555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Slide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3C4C1CA-3887-AC6A-91CF-29E3CA7D5975}"/>
              </a:ext>
            </a:extLst>
          </p:cNvPr>
          <p:cNvSpPr txBox="1"/>
          <p:nvPr/>
        </p:nvSpPr>
        <p:spPr>
          <a:xfrm>
            <a:off x="177772" y="4598792"/>
            <a:ext cx="11897687" cy="14016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Richard, Figliola. "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Theory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design for 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measurements</a:t>
            </a: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." (2011)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Alcuni concetti riportati nelle slide potete approfondirli dal Capitolo 1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endParaRPr lang="it-IT" sz="2400" i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A2974C4-BD6B-F792-1434-EC31CCABB297}"/>
              </a:ext>
            </a:extLst>
          </p:cNvPr>
          <p:cNvSpPr txBox="1"/>
          <p:nvPr/>
        </p:nvSpPr>
        <p:spPr>
          <a:xfrm>
            <a:off x="177772" y="2635740"/>
            <a:ext cx="10881655" cy="98058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14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it-IT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VIM </a:t>
            </a:r>
          </a:p>
          <a:p>
            <a:pPr>
              <a:lnSpc>
                <a:spcPct val="114000"/>
              </a:lnSpc>
              <a:spcBef>
                <a:spcPct val="0"/>
              </a:spcBef>
              <a:defRPr/>
            </a:pPr>
            <a:r>
              <a:rPr lang="it-IT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 varie e approfondimenti</a:t>
            </a:r>
          </a:p>
        </p:txBody>
      </p:sp>
    </p:spTree>
    <p:extLst>
      <p:ext uri="{BB962C8B-B14F-4D97-AF65-F5344CB8AC3E}">
        <p14:creationId xmlns:p14="http://schemas.microsoft.com/office/powerpoint/2010/main" val="20641997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357389C5-0BAB-ECFD-1F9A-43FCDE6ECF08}"/>
              </a:ext>
            </a:extLst>
          </p:cNvPr>
          <p:cNvCxnSpPr>
            <a:cxnSpLocks/>
          </p:cNvCxnSpPr>
          <p:nvPr/>
        </p:nvCxnSpPr>
        <p:spPr>
          <a:xfrm>
            <a:off x="514800" y="720000"/>
            <a:ext cx="1116418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F3AF865-61EE-90BC-8F61-D089C8196B67}"/>
              </a:ext>
            </a:extLst>
          </p:cNvPr>
          <p:cNvCxnSpPr>
            <a:cxnSpLocks/>
          </p:cNvCxnSpPr>
          <p:nvPr/>
        </p:nvCxnSpPr>
        <p:spPr>
          <a:xfrm>
            <a:off x="514800" y="6138000"/>
            <a:ext cx="111641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A8D2D1-0AC9-73A2-1C4F-3B7C92F5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859" y="0"/>
            <a:ext cx="836141" cy="70304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19420C1-67CB-04A8-8F80-C7CEB18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4958"/>
            <a:ext cx="836141" cy="703042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E4A247A4-36AB-B58D-8B12-17EA1F48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9D071-E114-8942-BA66-2E81E6A1C866}" type="slidenum">
              <a:rPr lang="it-IT" sz="1600" b="1" smtClean="0">
                <a:latin typeface="Calibri" panose="020F0502020204030204" pitchFamily="34" charset="0"/>
                <a:cs typeface="Calibri" panose="020F0502020204030204" pitchFamily="34" charset="0"/>
              </a:rPr>
              <a:t>41</a:t>
            </a:fld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4E340598-29E1-7D68-51B7-155AF465C7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2"/>
          <a:stretch>
            <a:fillRect/>
          </a:stretch>
        </p:blipFill>
        <p:spPr bwMode="auto">
          <a:xfrm>
            <a:off x="8134737" y="772130"/>
            <a:ext cx="2852131" cy="2814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http://www.stevedennie.com/wp-content/uploads/2013/10/thank_you.png">
            <a:extLst>
              <a:ext uri="{FF2B5EF4-FFF2-40B4-BE49-F238E27FC236}">
                <a16:creationId xmlns:a16="http://schemas.microsoft.com/office/drawing/2014/main" id="{B3786526-19CD-468A-3586-28F7BF791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12" y="896417"/>
            <a:ext cx="5317588" cy="291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Placeholder 34">
            <a:extLst>
              <a:ext uri="{FF2B5EF4-FFF2-40B4-BE49-F238E27FC236}">
                <a16:creationId xmlns:a16="http://schemas.microsoft.com/office/drawing/2014/main" id="{D9335A19-633A-FE37-4B7D-FA0B6E9CBF3E}"/>
              </a:ext>
            </a:extLst>
          </p:cNvPr>
          <p:cNvSpPr txBox="1">
            <a:spLocks/>
          </p:cNvSpPr>
          <p:nvPr/>
        </p:nvSpPr>
        <p:spPr>
          <a:xfrm>
            <a:off x="418070" y="136525"/>
            <a:ext cx="10935730" cy="5665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Lezione</a:t>
            </a:r>
            <a:r>
              <a:rPr lang="en-GB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3.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Concetti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fondamentali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definizioni</a:t>
            </a:r>
            <a:r>
              <a:rPr lang="en-GB" sz="24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GB" sz="24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esercizi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E1E1DA8E-A61D-66A0-1108-25905E6AF5CD}"/>
              </a:ext>
            </a:extLst>
          </p:cNvPr>
          <p:cNvSpPr txBox="1"/>
          <p:nvPr/>
        </p:nvSpPr>
        <p:spPr>
          <a:xfrm>
            <a:off x="243928" y="5571027"/>
            <a:ext cx="2878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6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e.schena@unicampus.it</a:t>
            </a:r>
            <a:endParaRPr lang="en-GB" sz="1600" noProof="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14EDD231-C71D-5A9B-F142-B629939725C3}"/>
              </a:ext>
            </a:extLst>
          </p:cNvPr>
          <p:cNvSpPr/>
          <p:nvPr/>
        </p:nvSpPr>
        <p:spPr>
          <a:xfrm>
            <a:off x="670648" y="3811747"/>
            <a:ext cx="1628437" cy="1658694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 w="539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59D10E6D-AACC-0510-1778-1A4A941953B9}"/>
              </a:ext>
            </a:extLst>
          </p:cNvPr>
          <p:cNvSpPr>
            <a:spLocks/>
          </p:cNvSpPr>
          <p:nvPr/>
        </p:nvSpPr>
        <p:spPr>
          <a:xfrm>
            <a:off x="9763085" y="4065549"/>
            <a:ext cx="1475999" cy="147600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ED473E9E-D7E1-8714-E4D0-2B7B02CBB15C}"/>
              </a:ext>
            </a:extLst>
          </p:cNvPr>
          <p:cNvSpPr txBox="1"/>
          <p:nvPr/>
        </p:nvSpPr>
        <p:spPr>
          <a:xfrm>
            <a:off x="9061624" y="5588660"/>
            <a:ext cx="2878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 algn="just"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martina.pulcinelli@unicampus</a:t>
            </a:r>
            <a:r>
              <a:rPr lang="en-GB" err="1"/>
              <a:t>.</a:t>
            </a:r>
            <a:r>
              <a:rPr lang="en-GB"/>
              <a:t>it</a:t>
            </a:r>
            <a:endParaRPr lang="en-GB" dirty="0"/>
          </a:p>
        </p:txBody>
      </p:sp>
      <p:pic>
        <p:nvPicPr>
          <p:cNvPr id="12" name="Immagine 10">
            <a:extLst>
              <a:ext uri="{FF2B5EF4-FFF2-40B4-BE49-F238E27FC236}">
                <a16:creationId xmlns:a16="http://schemas.microsoft.com/office/drawing/2014/main" id="{40E29B87-8350-F79E-27FD-36D9D9D948A3}"/>
              </a:ext>
            </a:extLst>
          </p:cNvPr>
          <p:cNvPicPr>
            <a:picLocks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750" b="99250" l="10000" r="91750">
                        <a14:foregroundMark x1="52500" y1="7750" x2="60750" y2="9250"/>
                        <a14:foregroundMark x1="78750" y1="79250" x2="76250" y2="89500"/>
                        <a14:foregroundMark x1="79250" y1="84500" x2="48000" y2="96750"/>
                        <a14:foregroundMark x1="48000" y1="96750" x2="33000" y2="94750"/>
                        <a14:foregroundMark x1="69500" y1="66000" x2="86000" y2="85000"/>
                        <a14:foregroundMark x1="76750" y1="70000" x2="91750" y2="83000"/>
                        <a14:foregroundMark x1="80250" y1="77750" x2="90750" y2="94750"/>
                        <a14:foregroundMark x1="48500" y1="83000" x2="37750" y2="99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890" t="1" b="6717"/>
          <a:stretch/>
        </p:blipFill>
        <p:spPr>
          <a:xfrm>
            <a:off x="3461965" y="3988163"/>
            <a:ext cx="1548000" cy="154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15448C"/>
            </a:solidFill>
          </a:ln>
        </p:spPr>
      </p:pic>
      <p:pic>
        <p:nvPicPr>
          <p:cNvPr id="15" name="Immagine 20" descr="A person in a suit and tie&#10;&#10;Description automatically generated">
            <a:extLst>
              <a:ext uri="{FF2B5EF4-FFF2-40B4-BE49-F238E27FC236}">
                <a16:creationId xmlns:a16="http://schemas.microsoft.com/office/drawing/2014/main" id="{C563BD50-5AD6-896E-1A9C-81AF99966F87}"/>
              </a:ext>
            </a:extLst>
          </p:cNvPr>
          <p:cNvPicPr>
            <a:picLocks/>
          </p:cNvPicPr>
          <p:nvPr/>
        </p:nvPicPr>
        <p:blipFill>
          <a:blip r:embed="rId10"/>
          <a:srcRect l="4514" r="4514"/>
          <a:stretch/>
        </p:blipFill>
        <p:spPr>
          <a:xfrm>
            <a:off x="6408037" y="4040660"/>
            <a:ext cx="1548000" cy="154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15448C"/>
            </a:solidFill>
          </a:ln>
        </p:spPr>
      </p:pic>
      <p:sp>
        <p:nvSpPr>
          <p:cNvPr id="26" name="TextBox 6">
            <a:extLst>
              <a:ext uri="{FF2B5EF4-FFF2-40B4-BE49-F238E27FC236}">
                <a16:creationId xmlns:a16="http://schemas.microsoft.com/office/drawing/2014/main" id="{29BC28A0-A70D-15CB-5D35-26AEEA3843DB}"/>
              </a:ext>
            </a:extLst>
          </p:cNvPr>
          <p:cNvSpPr txBox="1"/>
          <p:nvPr/>
        </p:nvSpPr>
        <p:spPr>
          <a:xfrm>
            <a:off x="2796505" y="5617277"/>
            <a:ext cx="2878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6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c.romano@unicampus.it</a:t>
            </a:r>
            <a:endParaRPr lang="en-GB" sz="1600" noProof="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63C10802-0A1F-1A28-7844-535A49670ABB}"/>
              </a:ext>
            </a:extLst>
          </p:cNvPr>
          <p:cNvSpPr txBox="1"/>
          <p:nvPr/>
        </p:nvSpPr>
        <p:spPr>
          <a:xfrm>
            <a:off x="5777949" y="5619520"/>
            <a:ext cx="2986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6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vincenzo.lavorgna@unicampus.it</a:t>
            </a:r>
            <a:endParaRPr lang="en-GB" sz="1600" noProof="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708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2458</Words>
  <Application>Microsoft Macintosh PowerPoint</Application>
  <PresentationFormat>Widescreen</PresentationFormat>
  <Paragraphs>324</Paragraphs>
  <Slides>41</Slides>
  <Notes>41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Cambria Math</vt:lpstr>
      <vt:lpstr>Times New Roman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Schena Emiliano</dc:creator>
  <cp:lastModifiedBy>Schena Emiliano</cp:lastModifiedBy>
  <cp:revision>33</cp:revision>
  <dcterms:created xsi:type="dcterms:W3CDTF">2024-08-19T08:08:42Z</dcterms:created>
  <dcterms:modified xsi:type="dcterms:W3CDTF">2026-09-25T14:54:31Z</dcterms:modified>
</cp:coreProperties>
</file>